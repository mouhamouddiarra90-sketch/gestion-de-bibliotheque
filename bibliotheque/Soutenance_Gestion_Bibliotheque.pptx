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outenance" id="{3121f8c4-8bfa-a10d-1e26-20f10aa2906f}">
          <p14:sldIdLst>
            <p14:sldId id="256"/>
            <p14:sldId id="257"/>
            <p14:sldId id="258"/>
            <p14:sldId id="259"/>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secondes. Chaque membre se présente en une phrase (nom + sa partie du projet).</a:t>
            </a:r>
          </a:p>
          <a:p>
            <a:r>
              <a:t>Durée totale : 8 minutes, démonstration comprise.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secondes. Parler du bibliothécaire comme d’une vraie personne.</a:t>
            </a:r>
          </a:p>
          <a:p>
            <a:r>
              <a:t>Idée à dire : avant, tout est sur un cahier ; avec l’application, le livre emprunté n’est plus disponible et le tableau de bord montre l’activité d’un coup d’œil.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secondes. Une phrase par bloc.</a:t>
            </a:r>
          </a:p>
          <a:p>
            <a:r>
              <a:t>Interface (navigateur) -&gt; API Spring Boot -&gt; base MariaDB. La console passe directement par JDBC avec le pilote mariadb-java-client-2.7.6.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secondes. Montrer le MCD : deux entités (ADHÉRENT, LIVRE) reliées par l’association EMPRUNTER (cardinalités 0,N des deux côtés), qui porte les dates.</a:t>
            </a:r>
          </a:p>
          <a:p>
            <a:r>
              <a:t>En bas : passage aux tables (clés primaires soulignées, clés étrangères #). date_retour vide = emprunt en cours.</a:t>
            </a:r>
          </a:p>
          <a:p>
            <a:r>
              <a:t>Le membre qui a conçu la base la présente.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 à 5 minutes : c’est le cœur de la soutenance.</a:t>
            </a:r>
          </a:p>
          <a:p>
            <a:r>
              <a:t>Préparer les données d’exemple AVANT (script database/bibliotheque.sql). Lancer : mvn spring-boot:run puis http://localhost:8080.</a:t>
            </a:r>
          </a:p>
          <a:p>
            <a:r>
              <a:t>Montrer au moins un refus (étape 3). Répéter la démonstration chronomètre en main.</a:t>
            </a:r>
          </a:p>
          <a:p>
            <a:r>
              <a:t>Plan B : captures en annexe.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Rôle (développeur Java et formateur), contexte (étudiant en informatique de gestion), tâche, contraintes et format demandé : ce qui a rendu ce prompt efficace.</a:t>
            </a:r>
          </a:p>
          <a:p>
            <a:r>
              <a:t>Dire franchement ce qui a moins marché : l’IA a proposé un pilote incompatible (diapo suivante).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C’est la diapo la plus importante pour l’esprit critique.</a:t>
            </a:r>
          </a:p>
          <a:p>
            <a:r>
              <a:t>L’IA avait proposé le connecteur MySQL ; nous avons vérifié qu’il ne convient pas à MariaDB. Source : https://bugs.mysql.com/bug.php?id=112960</a:t>
            </a:r>
          </a:p>
          <a:p>
            <a:r>
              <a:t>Deuxième erreur en réserve pour les questions : à choisir dans votre expérience.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secondes. Un test = une entrée, un résultat attendu, un résultat obtenu.</a:t>
            </a:r>
          </a:p>
          <a:p>
            <a:r>
              <a:t>Les tests viennent du script tests/smoke-test.sh (24 contrôles) et du test de l’interface. À relancer sur la vraie base avant la soutenance : bash tests/smoke-test.sh.</a:t>
            </a:r>
          </a:p>
          <a:p>
            <a:r>
              <a:t>Lien avec la loi n° 2013-015 (protection des données personnelles) vu en séance 7.</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secondes. Chaque membre doit pouvoir expliquer chaque partie : le jury s’en sert pour choisir à qui poser les questions.</a:t>
            </a:r>
          </a:p>
          <a:p>
            <a:r>
              <a:t>ATTENTION : la répartition du tableau est une proposition à corriger selon le travail réel de chacun.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Laisser cette diapo affichée pendant les 5 minutes de questions. Garder l’application ouverte : le jury peut demander de montrer une partie du code.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À montrer seulement si l’ordinateur ou le vidéoprojecteur ne fonctionne pas. Une capture par étape de la diapo « Démonstration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10698480" cy="868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429000"/>
            <a:ext cx="10698480" cy="548640"/>
          </a:xfrm>
          <a:prstGeom prst="rect">
            <a:avLst/>
          </a:prstGeom>
          <a:noFill/>
          <a:ln/>
        </p:spPr>
        <p:txBody>
          <a:bodyPr wrap="square" rtlCol="0"/>
          <a:lstStyle>
            <a:lvl1pPr algn="l" indent="0" marL="0">
              <a:buNone/>
              <a:defRPr lang="en-US" sz="2200" dirty="0">
                <a:solidFill>
                  <a:schemeClr val="accent3"/>
                </a:solidFill>
              </a:defRPr>
            </a:lvl1pPr>
          </a:lstStyle>
          <a:p>
            <a:pPr algn="l" indent="0" marL="0">
              <a:buNone/>
            </a:pPr>
            <a:endParaRPr lang="en-US" sz="2200" dirty="0"/>
          </a:p>
        </p:txBody>
      </p:sp>
      <p:sp>
        <p:nvSpPr>
          <p:cNvPr id="4" name="Text 0"/>
          <p:cNvSpPr/>
          <p:nvPr>
            <p:ph idx="102" type="body" hasCustomPrompt="1"/>
          </p:nvPr>
        </p:nvSpPr>
        <p:spPr>
          <a:xfrm>
            <a:off x="731520" y="4069080"/>
            <a:ext cx="10698480" cy="411480"/>
          </a:xfrm>
          <a:prstGeom prst="rect">
            <a:avLst/>
          </a:prstGeom>
          <a:noFill/>
          <a:ln/>
        </p:spPr>
        <p:txBody>
          <a:bodyPr wrap="square" rtlCol="0"/>
          <a:lstStyle>
            <a:lvl1pPr algn="l" indent="0" marL="0">
              <a:buNone/>
              <a:defRPr lang="en-US" sz="1500" dirty="0">
                <a:solidFill>
                  <a:schemeClr val="accent5"/>
                </a:solidFill>
              </a:defRPr>
            </a:lvl1pPr>
          </a:lstStyle>
          <a:p>
            <a:pPr algn="l"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240280"/>
            <a:ext cx="7772400" cy="365760"/>
          </a:xfrm>
          <a:prstGeom prst="rect">
            <a:avLst/>
          </a:prstGeom>
          <a:noFill/>
          <a:ln/>
        </p:spPr>
        <p:txBody>
          <a:bodyPr wrap="square" rtlCol="0"/>
          <a:lstStyle>
            <a:lvl1pPr algn="l" indent="0" marL="0">
              <a:buNone/>
              <a:defRPr lang="en-US" sz="1600" b="1" dirty="0">
                <a:solidFill>
                  <a:schemeClr val="accent3"/>
                </a:solidFill>
              </a:defRPr>
            </a:lvl1pPr>
          </a:lstStyle>
          <a:p>
            <a:pPr algn="l" indent="0" marL="0">
              <a:buNone/>
            </a:pPr>
            <a:endParaRPr lang="en-US" sz="1600" dirty="0"/>
          </a:p>
        </p:txBody>
      </p:sp>
      <p:sp>
        <p:nvSpPr>
          <p:cNvPr id="3" name="Text 0"/>
          <p:cNvSpPr/>
          <p:nvPr>
            <p:ph idx="101" type="title" hasCustomPrompt="1"/>
          </p:nvPr>
        </p:nvSpPr>
        <p:spPr>
          <a:xfrm>
            <a:off x="731520" y="2651760"/>
            <a:ext cx="8412480" cy="12801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9052560" y="1828800"/>
            <a:ext cx="2651760" cy="2194560"/>
          </a:xfrm>
          <a:prstGeom prst="rect">
            <a:avLst/>
          </a:prstGeom>
          <a:noFill/>
          <a:ln/>
        </p:spPr>
        <p:txBody>
          <a:bodyPr wrap="square" rtlCol="0"/>
          <a:lstStyle>
            <a:lvl1pPr algn="r" indent="0" marL="0">
              <a:buNone/>
              <a:defRPr lang="en-US" sz="13000" b="1" dirty="0">
                <a:solidFill>
                  <a:schemeClr val="accent1"/>
                </a:solidFill>
              </a:defRPr>
            </a:lvl1pPr>
          </a:lstStyle>
          <a:p>
            <a:pPr algn="r" indent="0" marL="0">
              <a:buNone/>
            </a:pPr>
            <a:endParaRPr lang="en-US" sz="13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12648" y="384048"/>
            <a:ext cx="1097280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612648" y="6382512"/>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Projet de fin de cours · Gestion de bibliothèque · L2 IG</a:t>
            </a:r>
            <a:endParaRPr lang="en-US" sz="1000" dirty="0"/>
          </a:p>
        </p:txBody>
      </p:sp>
      <p:sp>
        <p:nvSpPr>
          <p:cNvPr id="25" name="Slide Number Placeholder 0"/>
          <p:cNvSpPr>
            <a:spLocks noGrp="1"/>
          </p:cNvSpPr>
          <p:nvPr>
            <p:ph type="sldNum" sz="quarter" idx="4294967295"/>
          </p:nvPr>
        </p:nvSpPr>
        <p:spPr>
          <a:xfrm>
            <a:off x="1110996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OMB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12648" y="384048"/>
            <a:ext cx="1097280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612648" y="6382512"/>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Projet de fin de cours · Gestion de bibliothèque · L2 IG</a:t>
            </a:r>
            <a:endParaRPr lang="en-US" sz="1000" dirty="0"/>
          </a:p>
        </p:txBody>
      </p:sp>
      <p:sp>
        <p:nvSpPr>
          <p:cNvPr id="25" name="Slide Number Placeholder 0"/>
          <p:cNvSpPr>
            <a:spLocks noGrp="1"/>
          </p:cNvSpPr>
          <p:nvPr>
            <p:ph type="sldNum" sz="quarter" idx="4294967295"/>
          </p:nvPr>
        </p:nvSpPr>
        <p:spPr>
          <a:xfrm>
            <a:off x="1110996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10698480" cy="868680"/>
          </a:xfrm>
          <a:prstGeom prst="rect">
            <a:avLst/>
          </a:prstGeom>
          <a:noFill/>
          <a:ln/>
        </p:spPr>
        <p:txBody>
          <a:bodyPr wrap="square" lIns="0" tIns="0" rIns="0" bIns="0" rtlCol="0" anchor="ctr"/>
          <a:lstStyle/>
          <a:p>
            <a:pPr algn="l" indent="0" marL="0">
              <a:buNone/>
            </a:pPr>
            <a:r>
              <a:rPr lang="en-US" sz="4400" b="1" dirty="0">
                <a:solidFill>
                  <a:schemeClr val="bg1"/>
                </a:solidFill>
              </a:rPr>
              <a:t>Gestion de bibliothèque</a:t>
            </a:r>
            <a:endParaRPr lang="en-US" sz="4400" dirty="0"/>
          </a:p>
        </p:txBody>
      </p:sp>
      <p:sp>
        <p:nvSpPr>
          <p:cNvPr id="3" name="Text 0"/>
          <p:cNvSpPr/>
          <p:nvPr>
            <p:ph idx="101" type="body" hasCustomPrompt="1"/>
          </p:nvPr>
        </p:nvSpPr>
        <p:spPr>
          <a:xfrm>
            <a:off x="731520" y="3429000"/>
            <a:ext cx="10698480" cy="548640"/>
          </a:xfrm>
          <a:prstGeom prst="rect">
            <a:avLst/>
          </a:prstGeom>
          <a:noFill/>
          <a:ln/>
        </p:spPr>
        <p:txBody>
          <a:bodyPr wrap="square" lIns="0" tIns="0" rIns="0" bIns="0" rtlCol="0" anchor="t"/>
          <a:lstStyle/>
          <a:p>
            <a:pPr algn="l" indent="0" marL="0">
              <a:buNone/>
            </a:pPr>
            <a:r>
              <a:rPr lang="en-US" sz="2200" dirty="0">
                <a:solidFill>
                  <a:schemeClr val="accent3"/>
                </a:solidFill>
              </a:rPr>
              <a:t>Gérer les livres, les adhérents et les emprunts d’une bibliothèque, avec un tableau de bord</a:t>
            </a:r>
            <a:endParaRPr lang="en-US" sz="2200" dirty="0"/>
          </a:p>
        </p:txBody>
      </p:sp>
      <p:sp>
        <p:nvSpPr>
          <p:cNvPr id="4" name="Text 0"/>
          <p:cNvSpPr/>
          <p:nvPr>
            <p:ph idx="102" type="body" hasCustomPrompt="1"/>
          </p:nvPr>
        </p:nvSpPr>
        <p:spPr>
          <a:xfrm>
            <a:off x="731520" y="4069080"/>
            <a:ext cx="10698480" cy="411480"/>
          </a:xfrm>
          <a:prstGeom prst="rect">
            <a:avLst/>
          </a:prstGeom>
          <a:noFill/>
          <a:ln/>
        </p:spPr>
        <p:txBody>
          <a:bodyPr wrap="square" lIns="0" tIns="0" rIns="0" bIns="0" rtlCol="0" anchor="t"/>
          <a:lstStyle/>
          <a:p>
            <a:pPr algn="l" indent="0" marL="0">
              <a:buNone/>
            </a:pPr>
            <a:r>
              <a:rPr lang="en-US" sz="1500" dirty="0">
                <a:solidFill>
                  <a:schemeClr val="accent5"/>
                </a:solidFill>
              </a:rPr>
              <a:t>Mama dit Kama TRAORÉ, Mouhamoud DIARRA, Leila TOURÉ, Kalilou KONATÉ, COULIBALY · IA et Codage informatique · L2 IG</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12648" y="384048"/>
            <a:ext cx="10972800" cy="777240"/>
          </a:xfrm>
          <a:prstGeom prst="rect">
            <a:avLst/>
          </a:prstGeom>
          <a:noFill/>
          <a:ln/>
        </p:spPr>
        <p:txBody>
          <a:bodyPr wrap="square" lIns="0" tIns="0" rIns="0" bIns="0" rtlCol="0" anchor="ctr"/>
          <a:lstStyle/>
          <a:p>
            <a:pPr algn="l" indent="0" marL="0">
              <a:buNone/>
            </a:pPr>
            <a:r>
              <a:rPr lang="en-US" sz="3400" b="1" dirty="0">
                <a:solidFill>
                  <a:schemeClr val="tx1"/>
                </a:solidFill>
              </a:rPr>
              <a:t>Le besoin</a:t>
            </a:r>
            <a:endParaRPr lang="en-US" sz="3400" dirty="0"/>
          </a:p>
        </p:txBody>
      </p:sp>
      <p:sp>
        <p:nvSpPr>
          <p:cNvPr id="3" name="carte-1"/>
          <p:cNvSpPr/>
          <p:nvPr/>
        </p:nvSpPr>
        <p:spPr>
          <a:xfrm>
            <a:off x="612648" y="1417320"/>
            <a:ext cx="3474720" cy="3566160"/>
          </a:xfrm>
          <a:prstGeom prst="roundRect">
            <a:avLst>
              <a:gd name="adj" fmla="val 3158"/>
            </a:avLst>
          </a:prstGeom>
          <a:solidFill>
            <a:schemeClr val="bg1"/>
          </a:solidFill>
          <a:ln w="9525">
            <a:solidFill>
              <a:srgbClr val="E3E6EE"/>
            </a:solidFill>
            <a:prstDash val="solid"/>
          </a:ln>
          <a:effectLst>
            <a:outerShdw sx="100000" sy="100000" kx="0" ky="0" algn="bl" rotWithShape="0" blurRad="101600" dist="25400" dir="5400000">
              <a:srgbClr val="000000">
                <a:alpha val="8000"/>
              </a:srgbClr>
            </a:outerShdw>
          </a:effectLst>
        </p:spPr>
      </p:sp>
      <p:sp>
        <p:nvSpPr>
          <p:cNvPr id="4" name="pastille-2"/>
          <p:cNvSpPr/>
          <p:nvPr/>
        </p:nvSpPr>
        <p:spPr>
          <a:xfrm>
            <a:off x="886968" y="1691640"/>
            <a:ext cx="685800" cy="685800"/>
          </a:xfrm>
          <a:prstGeom prst="ellipse">
            <a:avLst/>
          </a:prstGeom>
          <a:solidFill>
            <a:schemeClr val="accent2"/>
          </a:solidFill>
          <a:ln/>
        </p:spPr>
      </p:sp>
      <p:pic>
        <p:nvPicPr>
          <p:cNvPr id="5" name="icone-3" descr="FaUserTie">    </p:cNvPr>
          <p:cNvPicPr>
            <a:picLocks noChangeAspect="1"/>
          </p:cNvPicPr>
          <p:nvPr/>
        </p:nvPicPr>
        <p:blipFill>
          <a:blip r:embed="rId1"/>
          <a:stretch>
            <a:fillRect/>
          </a:stretch>
        </p:blipFill>
        <p:spPr>
          <a:xfrm>
            <a:off x="1072134" y="1876806"/>
            <a:ext cx="315468" cy="315468"/>
          </a:xfrm>
          <a:prstGeom prst="rect">
            <a:avLst/>
          </a:prstGeom>
        </p:spPr>
      </p:pic>
      <p:sp>
        <p:nvSpPr>
          <p:cNvPr id="6" name="texte-4"/>
          <p:cNvSpPr txBox="1"/>
          <p:nvPr/>
        </p:nvSpPr>
        <p:spPr>
          <a:xfrm>
            <a:off x="1755648" y="1691640"/>
            <a:ext cx="2103120" cy="685800"/>
          </a:xfrm>
          <a:prstGeom prst="rect">
            <a:avLst/>
          </a:prstGeom>
          <a:noFill/>
          <a:ln/>
        </p:spPr>
        <p:txBody>
          <a:bodyPr wrap="square" lIns="0" tIns="0" rIns="0" bIns="0" rtlCol="0" anchor="ctr"/>
          <a:lstStyle/>
          <a:p>
            <a:pPr indent="0" marL="0">
              <a:buNone/>
            </a:pPr>
            <a:r>
              <a:rPr lang="en-US" sz="1900" b="1" dirty="0">
                <a:solidFill>
                  <a:schemeClr val="tx1"/>
                </a:solidFill>
              </a:rPr>
              <a:t>Pour qui ?</a:t>
            </a:r>
            <a:endParaRPr lang="en-US" sz="1900" dirty="0"/>
          </a:p>
        </p:txBody>
      </p:sp>
      <p:sp>
        <p:nvSpPr>
          <p:cNvPr id="7" name="texte-5"/>
          <p:cNvSpPr txBox="1"/>
          <p:nvPr/>
        </p:nvSpPr>
        <p:spPr>
          <a:xfrm>
            <a:off x="886968" y="2560320"/>
            <a:ext cx="2926080" cy="2286000"/>
          </a:xfrm>
          <a:prstGeom prst="rect">
            <a:avLst/>
          </a:prstGeom>
          <a:noFill/>
          <a:ln/>
        </p:spPr>
        <p:txBody>
          <a:bodyPr wrap="square" lIns="0" tIns="0" rIns="0" bIns="0" rtlCol="0" anchor="t"/>
          <a:lstStyle/>
          <a:p>
            <a:pPr indent="0" marL="0">
              <a:buNone/>
            </a:pPr>
            <a:r>
              <a:rPr lang="en-US" sz="1600" dirty="0">
                <a:solidFill>
                  <a:schemeClr val="tx1"/>
                </a:solidFill>
              </a:rPr>
              <a:t>Une petite bibliothèque (école ou quartier) : un ou deux bibliothécaires qui gèrent quelques centaines de livres et leurs adhérents.</a:t>
            </a:r>
            <a:endParaRPr lang="en-US" sz="1600" dirty="0"/>
          </a:p>
        </p:txBody>
      </p:sp>
      <p:sp>
        <p:nvSpPr>
          <p:cNvPr id="8" name="carte-6"/>
          <p:cNvSpPr/>
          <p:nvPr/>
        </p:nvSpPr>
        <p:spPr>
          <a:xfrm>
            <a:off x="4361688" y="1417320"/>
            <a:ext cx="3474720" cy="3566160"/>
          </a:xfrm>
          <a:prstGeom prst="roundRect">
            <a:avLst>
              <a:gd name="adj" fmla="val 3158"/>
            </a:avLst>
          </a:prstGeom>
          <a:solidFill>
            <a:schemeClr val="bg1"/>
          </a:solidFill>
          <a:ln w="9525">
            <a:solidFill>
              <a:srgbClr val="E3E6EE"/>
            </a:solidFill>
            <a:prstDash val="solid"/>
          </a:ln>
          <a:effectLst>
            <a:outerShdw sx="100000" sy="100000" kx="0" ky="0" algn="bl" rotWithShape="0" blurRad="101600" dist="25400" dir="5400000">
              <a:srgbClr val="000000">
                <a:alpha val="8000"/>
              </a:srgbClr>
            </a:outerShdw>
          </a:effectLst>
        </p:spPr>
      </p:sp>
      <p:sp>
        <p:nvSpPr>
          <p:cNvPr id="9" name="pastille-7"/>
          <p:cNvSpPr/>
          <p:nvPr/>
        </p:nvSpPr>
        <p:spPr>
          <a:xfrm>
            <a:off x="4636008" y="1691640"/>
            <a:ext cx="685800" cy="685800"/>
          </a:xfrm>
          <a:prstGeom prst="ellipse">
            <a:avLst/>
          </a:prstGeom>
          <a:solidFill>
            <a:schemeClr val="accent1"/>
          </a:solidFill>
          <a:ln/>
        </p:spPr>
      </p:sp>
      <p:pic>
        <p:nvPicPr>
          <p:cNvPr id="10" name="icone-8" descr="FaExclamationTriangle">    </p:cNvPr>
          <p:cNvPicPr>
            <a:picLocks noChangeAspect="1"/>
          </p:cNvPicPr>
          <p:nvPr/>
        </p:nvPicPr>
        <p:blipFill>
          <a:blip r:embed="rId2"/>
          <a:stretch>
            <a:fillRect/>
          </a:stretch>
        </p:blipFill>
        <p:spPr>
          <a:xfrm>
            <a:off x="4821174" y="1876806"/>
            <a:ext cx="315468" cy="315468"/>
          </a:xfrm>
          <a:prstGeom prst="rect">
            <a:avLst/>
          </a:prstGeom>
        </p:spPr>
      </p:pic>
      <p:sp>
        <p:nvSpPr>
          <p:cNvPr id="11" name="texte-9"/>
          <p:cNvSpPr txBox="1"/>
          <p:nvPr/>
        </p:nvSpPr>
        <p:spPr>
          <a:xfrm>
            <a:off x="5504688" y="1691640"/>
            <a:ext cx="2103120" cy="685800"/>
          </a:xfrm>
          <a:prstGeom prst="rect">
            <a:avLst/>
          </a:prstGeom>
          <a:noFill/>
          <a:ln/>
        </p:spPr>
        <p:txBody>
          <a:bodyPr wrap="square" lIns="0" tIns="0" rIns="0" bIns="0" rtlCol="0" anchor="ctr"/>
          <a:lstStyle/>
          <a:p>
            <a:pPr indent="0" marL="0">
              <a:buNone/>
            </a:pPr>
            <a:r>
              <a:rPr lang="en-US" sz="1900" b="1" dirty="0">
                <a:solidFill>
                  <a:schemeClr val="tx1"/>
                </a:solidFill>
              </a:rPr>
              <a:t>Quel problème ?</a:t>
            </a:r>
            <a:endParaRPr lang="en-US" sz="1900" dirty="0"/>
          </a:p>
        </p:txBody>
      </p:sp>
      <p:sp>
        <p:nvSpPr>
          <p:cNvPr id="12" name="texte-10"/>
          <p:cNvSpPr txBox="1"/>
          <p:nvPr/>
        </p:nvSpPr>
        <p:spPr>
          <a:xfrm>
            <a:off x="4636008" y="2560320"/>
            <a:ext cx="2926080" cy="2286000"/>
          </a:xfrm>
          <a:prstGeom prst="rect">
            <a:avLst/>
          </a:prstGeom>
          <a:noFill/>
          <a:ln/>
        </p:spPr>
        <p:txBody>
          <a:bodyPr wrap="square" lIns="0" tIns="0" rIns="0" bIns="0" rtlCol="0" anchor="t"/>
          <a:lstStyle/>
          <a:p>
            <a:pPr indent="0" marL="0">
              <a:buNone/>
            </a:pPr>
            <a:r>
              <a:rPr lang="en-US" sz="1600" dirty="0">
                <a:solidFill>
                  <a:schemeClr val="tx1"/>
                </a:solidFill>
              </a:rPr>
              <a:t>Sur cahier : livres introuvables, retours oubliés, un même livre prêté deux fois, aucun chiffre pour suivre l’activité.</a:t>
            </a:r>
            <a:endParaRPr lang="en-US" sz="1600" dirty="0"/>
          </a:p>
        </p:txBody>
      </p:sp>
      <p:sp>
        <p:nvSpPr>
          <p:cNvPr id="13" name="carte-11"/>
          <p:cNvSpPr/>
          <p:nvPr/>
        </p:nvSpPr>
        <p:spPr>
          <a:xfrm>
            <a:off x="8110728" y="1417320"/>
            <a:ext cx="3474720" cy="3566160"/>
          </a:xfrm>
          <a:prstGeom prst="roundRect">
            <a:avLst>
              <a:gd name="adj" fmla="val 3158"/>
            </a:avLst>
          </a:prstGeom>
          <a:solidFill>
            <a:schemeClr val="bg1"/>
          </a:solidFill>
          <a:ln w="9525">
            <a:solidFill>
              <a:srgbClr val="E3E6EE"/>
            </a:solidFill>
            <a:prstDash val="solid"/>
          </a:ln>
          <a:effectLst>
            <a:outerShdw sx="100000" sy="100000" kx="0" ky="0" algn="bl" rotWithShape="0" blurRad="101600" dist="25400" dir="5400000">
              <a:srgbClr val="000000">
                <a:alpha val="8000"/>
              </a:srgbClr>
            </a:outerShdw>
          </a:effectLst>
        </p:spPr>
      </p:sp>
      <p:sp>
        <p:nvSpPr>
          <p:cNvPr id="14" name="pastille-12"/>
          <p:cNvSpPr/>
          <p:nvPr/>
        </p:nvSpPr>
        <p:spPr>
          <a:xfrm>
            <a:off x="8385048" y="1691640"/>
            <a:ext cx="685800" cy="685800"/>
          </a:xfrm>
          <a:prstGeom prst="ellipse">
            <a:avLst/>
          </a:prstGeom>
          <a:solidFill>
            <a:schemeClr val="accent3"/>
          </a:solidFill>
          <a:ln/>
        </p:spPr>
      </p:sp>
      <p:pic>
        <p:nvPicPr>
          <p:cNvPr id="15" name="icone-13" descr="FaListOl">    </p:cNvPr>
          <p:cNvPicPr>
            <a:picLocks noChangeAspect="1"/>
          </p:cNvPicPr>
          <p:nvPr/>
        </p:nvPicPr>
        <p:blipFill>
          <a:blip r:embed="rId3"/>
          <a:stretch>
            <a:fillRect/>
          </a:stretch>
        </p:blipFill>
        <p:spPr>
          <a:xfrm>
            <a:off x="8570214" y="1876806"/>
            <a:ext cx="315468" cy="315468"/>
          </a:xfrm>
          <a:prstGeom prst="rect">
            <a:avLst/>
          </a:prstGeom>
        </p:spPr>
      </p:pic>
      <p:sp>
        <p:nvSpPr>
          <p:cNvPr id="16" name="texte-14"/>
          <p:cNvSpPr txBox="1"/>
          <p:nvPr/>
        </p:nvSpPr>
        <p:spPr>
          <a:xfrm>
            <a:off x="9253728" y="1691640"/>
            <a:ext cx="2103120" cy="685800"/>
          </a:xfrm>
          <a:prstGeom prst="rect">
            <a:avLst/>
          </a:prstGeom>
          <a:noFill/>
          <a:ln/>
        </p:spPr>
        <p:txBody>
          <a:bodyPr wrap="square" lIns="0" tIns="0" rIns="0" bIns="0" rtlCol="0" anchor="ctr"/>
          <a:lstStyle/>
          <a:p>
            <a:pPr indent="0" marL="0">
              <a:buNone/>
            </a:pPr>
            <a:r>
              <a:rPr lang="en-US" sz="1900" b="1" dirty="0">
                <a:solidFill>
                  <a:schemeClr val="tx1"/>
                </a:solidFill>
              </a:rPr>
              <a:t>Ce que fait l’application</a:t>
            </a:r>
            <a:endParaRPr lang="en-US" sz="1900" dirty="0"/>
          </a:p>
        </p:txBody>
      </p:sp>
      <p:sp>
        <p:nvSpPr>
          <p:cNvPr id="17" name="texte-15"/>
          <p:cNvSpPr txBox="1"/>
          <p:nvPr/>
        </p:nvSpPr>
        <p:spPr>
          <a:xfrm>
            <a:off x="8385048" y="2560320"/>
            <a:ext cx="2926080" cy="2286000"/>
          </a:xfrm>
          <a:prstGeom prst="rect">
            <a:avLst/>
          </a:prstGeom>
          <a:noFill/>
          <a:ln/>
        </p:spPr>
        <p:txBody>
          <a:bodyPr wrap="square" lIns="0" tIns="0" rIns="0" bIns="0" rtlCol="0" anchor="t"/>
          <a:lstStyle/>
          <a:p>
            <a:pPr indent="0" marL="0">
              <a:buNone/>
            </a:pPr>
            <a:r>
              <a:rPr lang="en-US" sz="1600" dirty="0">
                <a:solidFill>
                  <a:schemeClr val="tx1"/>
                </a:solidFill>
              </a:rPr>
              <a:t>3 fonctions principales :</a:t>
            </a:r>
            <a:endParaRPr lang="en-US" sz="1600" dirty="0"/>
          </a:p>
          <a:p>
            <a:pPr indent="0" marL="0">
              <a:buNone/>
            </a:pPr>
            <a:r>
              <a:rPr lang="en-US" sz="1600" dirty="0">
                <a:solidFill>
                  <a:schemeClr val="tx1"/>
                </a:solidFill>
              </a:rPr>
              <a:t>1. Gérer les livres</a:t>
            </a:r>
            <a:endParaRPr lang="en-US" sz="1600" dirty="0"/>
          </a:p>
          <a:p>
            <a:pPr indent="0" marL="0">
              <a:buNone/>
            </a:pPr>
            <a:r>
              <a:rPr lang="en-US" sz="1600" dirty="0">
                <a:solidFill>
                  <a:schemeClr val="tx1"/>
                </a:solidFill>
              </a:rPr>
              <a:t>2. Gérer les adhérents</a:t>
            </a:r>
            <a:endParaRPr lang="en-US" sz="1600" dirty="0"/>
          </a:p>
          <a:p>
            <a:pPr indent="0" marL="0">
              <a:buNone/>
            </a:pPr>
            <a:r>
              <a:rPr lang="en-US" sz="1600" dirty="0">
                <a:solidFill>
                  <a:schemeClr val="tx1"/>
                </a:solidFill>
              </a:rPr>
              <a:t>3. Enregistrer les emprunts et les retours</a:t>
            </a:r>
            <a:endParaRPr lang="en-US" sz="1600" dirty="0"/>
          </a:p>
        </p:txBody>
      </p:sp>
      <p:sp>
        <p:nvSpPr>
          <p:cNvPr id="18" name="texte-16"/>
          <p:cNvSpPr txBox="1"/>
          <p:nvPr/>
        </p:nvSpPr>
        <p:spPr>
          <a:xfrm>
            <a:off x="612648" y="5257800"/>
            <a:ext cx="10972800" cy="548640"/>
          </a:xfrm>
          <a:prstGeom prst="rect">
            <a:avLst/>
          </a:prstGeom>
          <a:noFill/>
          <a:ln/>
        </p:spPr>
        <p:txBody>
          <a:bodyPr wrap="square" lIns="0" tIns="0" rIns="0" bIns="0" rtlCol="0" anchor="t"/>
          <a:lstStyle/>
          <a:p>
            <a:pPr indent="0" marL="0">
              <a:buNone/>
            </a:pPr>
            <a:r>
              <a:rPr lang="en-US" sz="1800" dirty="0">
                <a:solidFill>
                  <a:schemeClr val="tx1"/>
                </a:solidFill>
              </a:rPr>
              <a:t>Notre application permet au bibliothécaire de suivre livres, adhérents et emprunts, sans cahier et sans erreur.</a:t>
            </a:r>
            <a:endParaRPr lang="en-US" sz="1800" dirty="0"/>
          </a:p>
        </p:txBody>
      </p:sp>
      <p:sp>
        <p:nvSpPr>
          <p:cNvPr id="25" name="Slide Number Placeholder 0"/>
          <p:cNvSpPr>
            <a:spLocks noGrp="1"/>
          </p:cNvSpPr>
          <p:nvPr>
            <p:ph type="sldNum" sz="quarter" idx="4294967295"/>
          </p:nvPr>
        </p:nvSpPr>
        <p:spPr>
          <a:xfrm>
            <a:off x="1110996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12648" y="384048"/>
            <a:ext cx="10972800" cy="777240"/>
          </a:xfrm>
          <a:prstGeom prst="rect">
            <a:avLst/>
          </a:prstGeom>
          <a:noFill/>
          <a:ln/>
        </p:spPr>
        <p:txBody>
          <a:bodyPr wrap="square" lIns="0" tIns="0" rIns="0" bIns="0" rtlCol="0" anchor="ctr"/>
          <a:lstStyle/>
          <a:p>
            <a:pPr algn="l" indent="0" marL="0">
              <a:buNone/>
            </a:pPr>
            <a:r>
              <a:rPr lang="en-US" sz="3400" b="1" dirty="0">
                <a:solidFill>
                  <a:schemeClr val="tx1"/>
                </a:solidFill>
              </a:rPr>
              <a:t>Comment c’est construit</a:t>
            </a:r>
            <a:endParaRPr lang="en-US" sz="3400" dirty="0"/>
          </a:p>
        </p:txBody>
      </p:sp>
      <p:sp>
        <p:nvSpPr>
          <p:cNvPr id="3" name="carte-17"/>
          <p:cNvSpPr/>
          <p:nvPr/>
        </p:nvSpPr>
        <p:spPr>
          <a:xfrm>
            <a:off x="612648" y="1463040"/>
            <a:ext cx="3108960" cy="3017520"/>
          </a:xfrm>
          <a:prstGeom prst="roundRect">
            <a:avLst>
              <a:gd name="adj" fmla="val 3636"/>
            </a:avLst>
          </a:prstGeom>
          <a:solidFill>
            <a:schemeClr val="bg1"/>
          </a:solidFill>
          <a:ln w="9525">
            <a:solidFill>
              <a:srgbClr val="E3E6EE"/>
            </a:solidFill>
            <a:prstDash val="solid"/>
          </a:ln>
          <a:effectLst>
            <a:outerShdw sx="100000" sy="100000" kx="0" ky="0" algn="bl" rotWithShape="0" blurRad="101600" dist="25400" dir="5400000">
              <a:srgbClr val="000000">
                <a:alpha val="8000"/>
              </a:srgbClr>
            </a:outerShdw>
          </a:effectLst>
        </p:spPr>
      </p:sp>
      <p:sp>
        <p:nvSpPr>
          <p:cNvPr id="4" name="pastille-18"/>
          <p:cNvSpPr/>
          <p:nvPr/>
        </p:nvSpPr>
        <p:spPr>
          <a:xfrm>
            <a:off x="1709928" y="1737360"/>
            <a:ext cx="914400" cy="914400"/>
          </a:xfrm>
          <a:prstGeom prst="ellipse">
            <a:avLst/>
          </a:prstGeom>
          <a:solidFill>
            <a:schemeClr val="accent2"/>
          </a:solidFill>
          <a:ln/>
        </p:spPr>
      </p:sp>
      <p:pic>
        <p:nvPicPr>
          <p:cNvPr id="5" name="icone-19" descr="FaDesktop">    </p:cNvPr>
          <p:cNvPicPr>
            <a:picLocks noChangeAspect="1"/>
          </p:cNvPicPr>
          <p:nvPr/>
        </p:nvPicPr>
        <p:blipFill>
          <a:blip r:embed="rId1"/>
          <a:stretch>
            <a:fillRect/>
          </a:stretch>
        </p:blipFill>
        <p:spPr>
          <a:xfrm>
            <a:off x="1956816" y="1984248"/>
            <a:ext cx="420624" cy="420624"/>
          </a:xfrm>
          <a:prstGeom prst="rect">
            <a:avLst/>
          </a:prstGeom>
        </p:spPr>
      </p:pic>
      <p:sp>
        <p:nvSpPr>
          <p:cNvPr id="6" name="texte-20"/>
          <p:cNvSpPr txBox="1"/>
          <p:nvPr/>
        </p:nvSpPr>
        <p:spPr>
          <a:xfrm>
            <a:off x="795528" y="2788920"/>
            <a:ext cx="2743200" cy="457200"/>
          </a:xfrm>
          <a:prstGeom prst="rect">
            <a:avLst/>
          </a:prstGeom>
          <a:noFill/>
          <a:ln/>
        </p:spPr>
        <p:txBody>
          <a:bodyPr wrap="square" lIns="0" tIns="0" rIns="0" bIns="0" rtlCol="0" anchor="t"/>
          <a:lstStyle/>
          <a:p>
            <a:pPr algn="ctr" indent="0" marL="0">
              <a:buNone/>
            </a:pPr>
            <a:r>
              <a:rPr lang="en-US" sz="2000" b="1" dirty="0">
                <a:solidFill>
                  <a:schemeClr val="tx1"/>
                </a:solidFill>
              </a:rPr>
              <a:t>Interface</a:t>
            </a:r>
            <a:endParaRPr lang="en-US" sz="2000" dirty="0"/>
          </a:p>
        </p:txBody>
      </p:sp>
      <p:sp>
        <p:nvSpPr>
          <p:cNvPr id="7" name="texte-21"/>
          <p:cNvSpPr txBox="1"/>
          <p:nvPr/>
        </p:nvSpPr>
        <p:spPr>
          <a:xfrm>
            <a:off x="841248" y="3291840"/>
            <a:ext cx="2651760" cy="1097280"/>
          </a:xfrm>
          <a:prstGeom prst="rect">
            <a:avLst/>
          </a:prstGeom>
          <a:noFill/>
          <a:ln/>
        </p:spPr>
        <p:txBody>
          <a:bodyPr wrap="square" lIns="0" tIns="0" rIns="0" bIns="0" rtlCol="0" anchor="t"/>
          <a:lstStyle/>
          <a:p>
            <a:pPr algn="ctr" indent="0" marL="0">
              <a:buNone/>
            </a:pPr>
            <a:r>
              <a:rPr lang="en-US" sz="1500" dirty="0">
                <a:solidFill>
                  <a:schemeClr val="tx1"/>
                </a:solidFill>
              </a:rPr>
              <a:t>Page web moderne (HTML, CSS, JavaScript) avec tableau de bord. Une version console existe aussi.</a:t>
            </a:r>
            <a:endParaRPr lang="en-US" sz="1500" dirty="0"/>
          </a:p>
        </p:txBody>
      </p:sp>
      <p:sp>
        <p:nvSpPr>
          <p:cNvPr id="8" name="fleche-22"/>
          <p:cNvSpPr/>
          <p:nvPr/>
        </p:nvSpPr>
        <p:spPr>
          <a:xfrm>
            <a:off x="3831336" y="2788920"/>
            <a:ext cx="603504" cy="365760"/>
          </a:xfrm>
          <a:prstGeom prst="rightArrow">
            <a:avLst/>
          </a:prstGeom>
          <a:solidFill>
            <a:schemeClr val="accent5"/>
          </a:solidFill>
          <a:ln/>
        </p:spPr>
      </p:sp>
      <p:sp>
        <p:nvSpPr>
          <p:cNvPr id="9" name="carte-23"/>
          <p:cNvSpPr/>
          <p:nvPr/>
        </p:nvSpPr>
        <p:spPr>
          <a:xfrm>
            <a:off x="4544568" y="1463040"/>
            <a:ext cx="3108960" cy="3017520"/>
          </a:xfrm>
          <a:prstGeom prst="roundRect">
            <a:avLst>
              <a:gd name="adj" fmla="val 3636"/>
            </a:avLst>
          </a:prstGeom>
          <a:solidFill>
            <a:schemeClr val="bg1"/>
          </a:solidFill>
          <a:ln w="9525">
            <a:solidFill>
              <a:srgbClr val="E3E6EE"/>
            </a:solidFill>
            <a:prstDash val="solid"/>
          </a:ln>
          <a:effectLst>
            <a:outerShdw sx="100000" sy="100000" kx="0" ky="0" algn="bl" rotWithShape="0" blurRad="101600" dist="25400" dir="5400000">
              <a:srgbClr val="000000">
                <a:alpha val="8000"/>
              </a:srgbClr>
            </a:outerShdw>
          </a:effectLst>
        </p:spPr>
      </p:sp>
      <p:sp>
        <p:nvSpPr>
          <p:cNvPr id="10" name="pastille-24"/>
          <p:cNvSpPr/>
          <p:nvPr/>
        </p:nvSpPr>
        <p:spPr>
          <a:xfrm>
            <a:off x="5641848" y="1737360"/>
            <a:ext cx="914400" cy="914400"/>
          </a:xfrm>
          <a:prstGeom prst="ellipse">
            <a:avLst/>
          </a:prstGeom>
          <a:solidFill>
            <a:schemeClr val="accent1"/>
          </a:solidFill>
          <a:ln/>
        </p:spPr>
      </p:sp>
      <p:pic>
        <p:nvPicPr>
          <p:cNvPr id="11" name="icone-25" descr="FaCode">    </p:cNvPr>
          <p:cNvPicPr>
            <a:picLocks noChangeAspect="1"/>
          </p:cNvPicPr>
          <p:nvPr/>
        </p:nvPicPr>
        <p:blipFill>
          <a:blip r:embed="rId2"/>
          <a:stretch>
            <a:fillRect/>
          </a:stretch>
        </p:blipFill>
        <p:spPr>
          <a:xfrm>
            <a:off x="5888736" y="1984248"/>
            <a:ext cx="420624" cy="420624"/>
          </a:xfrm>
          <a:prstGeom prst="rect">
            <a:avLst/>
          </a:prstGeom>
        </p:spPr>
      </p:pic>
      <p:sp>
        <p:nvSpPr>
          <p:cNvPr id="12" name="texte-26"/>
          <p:cNvSpPr txBox="1"/>
          <p:nvPr/>
        </p:nvSpPr>
        <p:spPr>
          <a:xfrm>
            <a:off x="4727448" y="2788920"/>
            <a:ext cx="2743200" cy="457200"/>
          </a:xfrm>
          <a:prstGeom prst="rect">
            <a:avLst/>
          </a:prstGeom>
          <a:noFill/>
          <a:ln/>
        </p:spPr>
        <p:txBody>
          <a:bodyPr wrap="square" lIns="0" tIns="0" rIns="0" bIns="0" rtlCol="0" anchor="t"/>
          <a:lstStyle/>
          <a:p>
            <a:pPr algn="ctr" indent="0" marL="0">
              <a:buNone/>
            </a:pPr>
            <a:r>
              <a:rPr lang="en-US" sz="2000" b="1" dirty="0">
                <a:solidFill>
                  <a:schemeClr val="tx1"/>
                </a:solidFill>
              </a:rPr>
              <a:t>Programme</a:t>
            </a:r>
            <a:endParaRPr lang="en-US" sz="2000" dirty="0"/>
          </a:p>
        </p:txBody>
      </p:sp>
      <p:sp>
        <p:nvSpPr>
          <p:cNvPr id="13" name="texte-27"/>
          <p:cNvSpPr txBox="1"/>
          <p:nvPr/>
        </p:nvSpPr>
        <p:spPr>
          <a:xfrm>
            <a:off x="4773168" y="3291840"/>
            <a:ext cx="2651760" cy="1097280"/>
          </a:xfrm>
          <a:prstGeom prst="rect">
            <a:avLst/>
          </a:prstGeom>
          <a:noFill/>
          <a:ln/>
        </p:spPr>
        <p:txBody>
          <a:bodyPr wrap="square" lIns="0" tIns="0" rIns="0" bIns="0" rtlCol="0" anchor="t"/>
          <a:lstStyle/>
          <a:p>
            <a:pPr algn="ctr" indent="0" marL="0">
              <a:buNone/>
            </a:pPr>
            <a:r>
              <a:rPr lang="en-US" sz="1500" dirty="0">
                <a:solidFill>
                  <a:schemeClr val="tx1"/>
                </a:solidFill>
              </a:rPr>
              <a:t>Java 17 et Spring Boot : API REST (entités, services, contrôleurs). Console : Main et services JDBC.</a:t>
            </a:r>
            <a:endParaRPr lang="en-US" sz="1500" dirty="0"/>
          </a:p>
        </p:txBody>
      </p:sp>
      <p:sp>
        <p:nvSpPr>
          <p:cNvPr id="14" name="fleche-28"/>
          <p:cNvSpPr/>
          <p:nvPr/>
        </p:nvSpPr>
        <p:spPr>
          <a:xfrm>
            <a:off x="7763256" y="2788920"/>
            <a:ext cx="603504" cy="365760"/>
          </a:xfrm>
          <a:prstGeom prst="rightArrow">
            <a:avLst/>
          </a:prstGeom>
          <a:solidFill>
            <a:schemeClr val="accent5"/>
          </a:solidFill>
          <a:ln/>
        </p:spPr>
      </p:sp>
      <p:sp>
        <p:nvSpPr>
          <p:cNvPr id="15" name="carte-29"/>
          <p:cNvSpPr/>
          <p:nvPr/>
        </p:nvSpPr>
        <p:spPr>
          <a:xfrm>
            <a:off x="8476488" y="1463040"/>
            <a:ext cx="3108960" cy="3017520"/>
          </a:xfrm>
          <a:prstGeom prst="roundRect">
            <a:avLst>
              <a:gd name="adj" fmla="val 3636"/>
            </a:avLst>
          </a:prstGeom>
          <a:solidFill>
            <a:schemeClr val="bg1"/>
          </a:solidFill>
          <a:ln w="9525">
            <a:solidFill>
              <a:srgbClr val="E3E6EE"/>
            </a:solidFill>
            <a:prstDash val="solid"/>
          </a:ln>
          <a:effectLst>
            <a:outerShdw sx="100000" sy="100000" kx="0" ky="0" algn="bl" rotWithShape="0" blurRad="101600" dist="25400" dir="5400000">
              <a:srgbClr val="000000">
                <a:alpha val="8000"/>
              </a:srgbClr>
            </a:outerShdw>
          </a:effectLst>
        </p:spPr>
      </p:sp>
      <p:sp>
        <p:nvSpPr>
          <p:cNvPr id="16" name="pastille-30"/>
          <p:cNvSpPr/>
          <p:nvPr/>
        </p:nvSpPr>
        <p:spPr>
          <a:xfrm>
            <a:off x="9573768" y="1737360"/>
            <a:ext cx="914400" cy="914400"/>
          </a:xfrm>
          <a:prstGeom prst="ellipse">
            <a:avLst/>
          </a:prstGeom>
          <a:solidFill>
            <a:schemeClr val="tx2"/>
          </a:solidFill>
          <a:ln/>
        </p:spPr>
      </p:sp>
      <p:pic>
        <p:nvPicPr>
          <p:cNvPr id="17" name="icone-31" descr="FaDatabase">    </p:cNvPr>
          <p:cNvPicPr>
            <a:picLocks noChangeAspect="1"/>
          </p:cNvPicPr>
          <p:nvPr/>
        </p:nvPicPr>
        <p:blipFill>
          <a:blip r:embed="rId3"/>
          <a:stretch>
            <a:fillRect/>
          </a:stretch>
        </p:blipFill>
        <p:spPr>
          <a:xfrm>
            <a:off x="9820656" y="1984248"/>
            <a:ext cx="420624" cy="420624"/>
          </a:xfrm>
          <a:prstGeom prst="rect">
            <a:avLst/>
          </a:prstGeom>
        </p:spPr>
      </p:pic>
      <p:sp>
        <p:nvSpPr>
          <p:cNvPr id="18" name="texte-32"/>
          <p:cNvSpPr txBox="1"/>
          <p:nvPr/>
        </p:nvSpPr>
        <p:spPr>
          <a:xfrm>
            <a:off x="8659368" y="2788920"/>
            <a:ext cx="2743200" cy="457200"/>
          </a:xfrm>
          <a:prstGeom prst="rect">
            <a:avLst/>
          </a:prstGeom>
          <a:noFill/>
          <a:ln/>
        </p:spPr>
        <p:txBody>
          <a:bodyPr wrap="square" lIns="0" tIns="0" rIns="0" bIns="0" rtlCol="0" anchor="t"/>
          <a:lstStyle/>
          <a:p>
            <a:pPr algn="ctr" indent="0" marL="0">
              <a:buNone/>
            </a:pPr>
            <a:r>
              <a:rPr lang="en-US" sz="2000" b="1" dirty="0">
                <a:solidFill>
                  <a:schemeClr val="tx1"/>
                </a:solidFill>
              </a:rPr>
              <a:t>Données</a:t>
            </a:r>
            <a:endParaRPr lang="en-US" sz="2000" dirty="0"/>
          </a:p>
        </p:txBody>
      </p:sp>
      <p:sp>
        <p:nvSpPr>
          <p:cNvPr id="19" name="texte-33"/>
          <p:cNvSpPr txBox="1"/>
          <p:nvPr/>
        </p:nvSpPr>
        <p:spPr>
          <a:xfrm>
            <a:off x="8705088" y="3291840"/>
            <a:ext cx="2651760" cy="1097280"/>
          </a:xfrm>
          <a:prstGeom prst="rect">
            <a:avLst/>
          </a:prstGeom>
          <a:noFill/>
          <a:ln/>
        </p:spPr>
        <p:txBody>
          <a:bodyPr wrap="square" lIns="0" tIns="0" rIns="0" bIns="0" rtlCol="0" anchor="t"/>
          <a:lstStyle/>
          <a:p>
            <a:pPr algn="ctr" indent="0" marL="0">
              <a:buNone/>
            </a:pPr>
            <a:r>
              <a:rPr lang="en-US" sz="1500" dirty="0">
                <a:solidFill>
                  <a:schemeClr val="tx1"/>
                </a:solidFill>
              </a:rPr>
              <a:t>Base MariaDB (XAMPP), 3 tables : livres, adherents, emprunts.</a:t>
            </a:r>
            <a:endParaRPr lang="en-US" sz="1500" dirty="0"/>
          </a:p>
        </p:txBody>
      </p:sp>
      <p:sp>
        <p:nvSpPr>
          <p:cNvPr id="20" name="texte-34"/>
          <p:cNvSpPr txBox="1"/>
          <p:nvPr/>
        </p:nvSpPr>
        <p:spPr>
          <a:xfrm>
            <a:off x="612648" y="4846320"/>
            <a:ext cx="10972800" cy="457200"/>
          </a:xfrm>
          <a:prstGeom prst="rect">
            <a:avLst/>
          </a:prstGeom>
          <a:noFill/>
          <a:ln/>
        </p:spPr>
        <p:txBody>
          <a:bodyPr wrap="square" lIns="0" tIns="0" rIns="0" bIns="0" rtlCol="0" anchor="t"/>
          <a:lstStyle/>
          <a:p>
            <a:pPr indent="0" marL="0">
              <a:buNone/>
            </a:pPr>
            <a:r>
              <a:rPr lang="en-US" sz="1700" b="1" dirty="0">
                <a:solidFill>
                  <a:schemeClr val="tx1"/>
                </a:solidFill>
              </a:rPr>
              <a:t>Outils : VS Code, XAMPP, Maven, Termux (tests), Claude (assistant d’IA)</a:t>
            </a:r>
            <a:pPr indent="0" marL="0">
              <a:buNone/>
            </a:pPr>
            <a:endParaRPr lang="en-US" sz="1700" dirty="0"/>
          </a:p>
        </p:txBody>
      </p:sp>
      <p:sp>
        <p:nvSpPr>
          <p:cNvPr id="25" name="Slide Number Placeholder 0"/>
          <p:cNvSpPr>
            <a:spLocks noGrp="1"/>
          </p:cNvSpPr>
          <p:nvPr>
            <p:ph type="sldNum" sz="quarter" idx="4294967295"/>
          </p:nvPr>
        </p:nvSpPr>
        <p:spPr>
          <a:xfrm>
            <a:off x="1110996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12648" y="384048"/>
            <a:ext cx="10972800" cy="777240"/>
          </a:xfrm>
          <a:prstGeom prst="rect">
            <a:avLst/>
          </a:prstGeom>
          <a:noFill/>
          <a:ln/>
        </p:spPr>
        <p:txBody>
          <a:bodyPr wrap="square" lIns="0" tIns="0" rIns="0" bIns="0" rtlCol="0" anchor="ctr"/>
          <a:lstStyle/>
          <a:p>
            <a:pPr algn="l" indent="0" marL="0">
              <a:buNone/>
            </a:pPr>
            <a:r>
              <a:rPr lang="en-US" sz="3400" b="1" dirty="0">
                <a:solidFill>
                  <a:schemeClr val="tx1"/>
                </a:solidFill>
              </a:rPr>
              <a:t>La base de données (ou le diagramme de classes)</a:t>
            </a:r>
            <a:endParaRPr lang="en-US" sz="3400" dirty="0"/>
          </a:p>
        </p:txBody>
      </p:sp>
      <p:sp>
        <p:nvSpPr>
          <p:cNvPr id="3" name="zone-image-35"/>
          <p:cNvSpPr/>
          <p:nvPr/>
        </p:nvSpPr>
        <p:spPr>
          <a:xfrm>
            <a:off x="612648" y="1417320"/>
            <a:ext cx="6766560" cy="4389120"/>
          </a:xfrm>
          <a:prstGeom prst="roundRect">
            <a:avLst>
              <a:gd name="adj" fmla="val 2083"/>
            </a:avLst>
          </a:prstGeom>
          <a:solidFill>
            <a:schemeClr val="bg2"/>
          </a:solidFill>
          <a:ln w="15875">
            <a:solidFill>
              <a:schemeClr val="accent5"/>
            </a:solidFill>
            <a:prstDash val="dash"/>
          </a:ln>
        </p:spPr>
      </p:sp>
      <p:sp>
        <p:nvSpPr>
          <p:cNvPr id="5" name="carte-37"/>
          <p:cNvSpPr/>
          <p:nvPr/>
        </p:nvSpPr>
        <p:spPr>
          <a:xfrm>
            <a:off x="7653528" y="1417320"/>
            <a:ext cx="3931920" cy="4389120"/>
          </a:xfrm>
          <a:prstGeom prst="roundRect">
            <a:avLst>
              <a:gd name="adj" fmla="val 2791"/>
            </a:avLst>
          </a:prstGeom>
          <a:solidFill>
            <a:schemeClr val="bg2"/>
          </a:solidFill>
          <a:ln/>
        </p:spPr>
      </p:sp>
      <p:sp>
        <p:nvSpPr>
          <p:cNvPr id="6" name="texte-38"/>
          <p:cNvSpPr txBox="1"/>
          <p:nvPr/>
        </p:nvSpPr>
        <p:spPr>
          <a:xfrm>
            <a:off x="7927848" y="1600200"/>
            <a:ext cx="3383280" cy="457200"/>
          </a:xfrm>
          <a:prstGeom prst="rect">
            <a:avLst/>
          </a:prstGeom>
          <a:noFill/>
          <a:ln/>
        </p:spPr>
        <p:txBody>
          <a:bodyPr wrap="square" lIns="0" tIns="0" rIns="0" bIns="0" rtlCol="0" anchor="t"/>
          <a:lstStyle/>
          <a:p>
            <a:pPr indent="0" marL="0">
              <a:buNone/>
            </a:pPr>
            <a:r>
              <a:rPr lang="en-US" sz="1900" b="1" dirty="0">
                <a:solidFill>
                  <a:schemeClr val="tx1"/>
                </a:solidFill>
              </a:rPr>
              <a:t>À retenir</a:t>
            </a:r>
            <a:endParaRPr lang="en-US" sz="1900" dirty="0"/>
          </a:p>
        </p:txBody>
      </p:sp>
      <p:sp>
        <p:nvSpPr>
          <p:cNvPr id="7" name="Text 15"/>
          <p:cNvSpPr txBox="1"/>
          <p:nvPr/>
        </p:nvSpPr>
        <p:spPr>
          <a:xfrm>
            <a:off x="7927848" y="2148840"/>
            <a:ext cx="3383280" cy="3474720"/>
          </a:xfrm>
          <a:prstGeom prst="rect">
            <a:avLst/>
          </a:prstGeom>
          <a:noFill/>
          <a:ln/>
        </p:spPr>
        <p:txBody>
          <a:bodyPr wrap="square" lIns="0" tIns="0" rIns="0" bIns="0" rtlCol="0" anchor="ctr"/>
          <a:lstStyle/>
          <a:p>
            <a:pPr indent="0" marL="0">
              <a:buNone/>
            </a:pPr>
            <a:r>
              <a:rPr lang="en-US" sz="1450" dirty="0">
                <a:solidFill>
                  <a:schemeClr val="tx1"/>
                </a:solidFill>
              </a:rPr>
              <a:t>Table principale : emprunts. Elle relie un adhérent à un livre et garde les dates d’emprunt et de retour.</a:t>
            </a:r>
            <a:endParaRPr lang="en-US" sz="1550" dirty="0"/>
          </a:p>
          <a:p>
            <a:pPr indent="0" marL="0">
              <a:buNone/>
            </a:pPr>
            <a:r>
              <a:rPr lang="en-US" sz="1450" dirty="0">
                <a:solidFill>
                  <a:schemeClr val="tx1"/>
                </a:solidFill>
              </a:rPr>
              <a:t/>
            </a:r>
            <a:endParaRPr lang="en-US" sz="1550" dirty="0"/>
          </a:p>
          <a:p>
            <a:pPr indent="0" marL="0">
              <a:buNone/>
            </a:pPr>
            <a:r>
              <a:rPr lang="en-US" sz="1450" dirty="0">
                <a:solidFill>
                  <a:schemeClr val="tx1"/>
                </a:solidFill>
              </a:rPr>
              <a:t>Lien : un adhérent peut faire plusieurs emprunts ; un livre peut être emprunté plusieurs fois.</a:t>
            </a:r>
            <a:endParaRPr lang="en-US" sz="1550" dirty="0"/>
          </a:p>
          <a:p>
            <a:pPr indent="0" marL="0">
              <a:buNone/>
            </a:pPr>
            <a:r>
              <a:rPr lang="en-US" sz="1450" dirty="0">
                <a:solidFill>
                  <a:schemeClr val="tx1"/>
                </a:solidFill>
              </a:rPr>
              <a:t/>
            </a:r>
            <a:endParaRPr lang="en-US" sz="1550" dirty="0"/>
          </a:p>
          <a:p>
            <a:pPr indent="0" marL="0">
              <a:buNone/>
            </a:pPr>
            <a:r>
              <a:rPr lang="en-US" sz="1450" dirty="0">
                <a:solidFill>
                  <a:schemeClr val="tx1"/>
                </a:solidFill>
              </a:rPr>
              <a:t>Contraintes : 3 livres maximum par adhérent ; pas de suppression si historique.</a:t>
            </a:r>
            <a:endParaRPr lang="en-US" sz="1550" dirty="0"/>
          </a:p>
        </p:txBody>
      </p:sp>
      <p:sp>
        <p:nvSpPr>
          <p:cNvPr id="25" name="Slide Number Placeholder 0"/>
          <p:cNvSpPr>
            <a:spLocks noGrp="1"/>
          </p:cNvSpPr>
          <p:nvPr>
            <p:ph type="sldNum" sz="quarter" idx="4294967295"/>
          </p:nvPr>
        </p:nvSpPr>
        <p:spPr>
          <a:xfrm>
            <a:off x="1110996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pic>
        <p:nvPicPr>
          <p:cNvPr id="26" name="MCD" descr="Schéma MCD : ADHÉRENT 0,N EMPRUNTER 0,N LIVRE"/>
          <p:cNvPicPr>
            <a:picLocks noChangeAspect="1"/>
          </p:cNvPicPr>
          <p:nvPr/>
        </p:nvPicPr>
        <p:blipFill>
          <a:blip r:embed="rId3"/>
          <a:stretch>
            <a:fillRect/>
          </a:stretch>
        </p:blipFill>
        <p:spPr>
          <a:xfrm>
            <a:off x="869088" y="1527320"/>
            <a:ext cx="6253680" cy="41691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12648" y="384048"/>
            <a:ext cx="10972800" cy="777240"/>
          </a:xfrm>
          <a:prstGeom prst="rect">
            <a:avLst/>
          </a:prstGeom>
          <a:noFill/>
          <a:ln/>
        </p:spPr>
        <p:txBody>
          <a:bodyPr wrap="square" lIns="0" tIns="0" rIns="0" bIns="0" rtlCol="0" anchor="ctr"/>
          <a:lstStyle/>
          <a:p>
            <a:pPr algn="l" indent="0" marL="0">
              <a:buNone/>
            </a:pPr>
            <a:r>
              <a:rPr lang="en-US" sz="3400" b="1" dirty="0">
                <a:solidFill>
                  <a:schemeClr val="tx1"/>
                </a:solidFill>
              </a:rPr>
              <a:t>Démonstration</a:t>
            </a:r>
            <a:endParaRPr lang="en-US" sz="3400" dirty="0"/>
          </a:p>
        </p:txBody>
      </p:sp>
      <p:sp>
        <p:nvSpPr>
          <p:cNvPr id="3" name="etape-40"/>
          <p:cNvSpPr/>
          <p:nvPr/>
        </p:nvSpPr>
        <p:spPr>
          <a:xfrm>
            <a:off x="612648" y="1463040"/>
            <a:ext cx="685800" cy="685800"/>
          </a:xfrm>
          <a:prstGeom prst="ellipse">
            <a:avLst/>
          </a:prstGeom>
          <a:solidFill>
            <a:schemeClr val="accent2"/>
          </a:solidFill>
          <a:ln/>
        </p:spPr>
      </p:sp>
      <p:sp>
        <p:nvSpPr>
          <p:cNvPr id="4" name="texte-41"/>
          <p:cNvSpPr txBox="1"/>
          <p:nvPr/>
        </p:nvSpPr>
        <p:spPr>
          <a:xfrm>
            <a:off x="612648" y="146304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5" name="Text 15"/>
          <p:cNvSpPr txBox="1"/>
          <p:nvPr/>
        </p:nvSpPr>
        <p:spPr>
          <a:xfrm>
            <a:off x="1572768" y="1417320"/>
            <a:ext cx="9966960" cy="777240"/>
          </a:xfrm>
          <a:prstGeom prst="rect">
            <a:avLst/>
          </a:prstGeom>
          <a:noFill/>
          <a:ln/>
        </p:spPr>
        <p:txBody>
          <a:bodyPr wrap="square" lIns="0" tIns="0" rIns="0" bIns="0" rtlCol="0" anchor="ctr"/>
          <a:lstStyle/>
          <a:p>
            <a:pPr indent="0" marL="0">
              <a:buNone/>
            </a:pPr>
            <a:r>
              <a:rPr lang="en-US" sz="1800" dirty="0">
                <a:solidFill>
                  <a:schemeClr val="tx1"/>
                </a:solidFill>
              </a:rPr>
              <a:t>Ajouter un livre depuis le formulaire de l’interface web.</a:t>
            </a:r>
            <a:endParaRPr lang="en-US" sz="1800" dirty="0"/>
          </a:p>
        </p:txBody>
      </p:sp>
      <p:sp>
        <p:nvSpPr>
          <p:cNvPr id="6" name="etape-43"/>
          <p:cNvSpPr/>
          <p:nvPr/>
        </p:nvSpPr>
        <p:spPr>
          <a:xfrm>
            <a:off x="612648" y="2423160"/>
            <a:ext cx="685800" cy="685800"/>
          </a:xfrm>
          <a:prstGeom prst="ellipse">
            <a:avLst/>
          </a:prstGeom>
          <a:solidFill>
            <a:schemeClr val="accent1"/>
          </a:solidFill>
          <a:ln/>
        </p:spPr>
      </p:sp>
      <p:sp>
        <p:nvSpPr>
          <p:cNvPr id="7" name="texte-44"/>
          <p:cNvSpPr txBox="1"/>
          <p:nvPr/>
        </p:nvSpPr>
        <p:spPr>
          <a:xfrm>
            <a:off x="612648" y="242316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8" name="Text 15"/>
          <p:cNvSpPr txBox="1"/>
          <p:nvPr/>
        </p:nvSpPr>
        <p:spPr>
          <a:xfrm>
            <a:off x="1572768" y="2377440"/>
            <a:ext cx="9966960" cy="777240"/>
          </a:xfrm>
          <a:prstGeom prst="rect">
            <a:avLst/>
          </a:prstGeom>
          <a:noFill/>
          <a:ln/>
        </p:spPr>
        <p:txBody>
          <a:bodyPr wrap="square" lIns="0" tIns="0" rIns="0" bIns="0" rtlCol="0" anchor="ctr"/>
          <a:lstStyle/>
          <a:p>
            <a:pPr indent="0" marL="0">
              <a:buNone/>
            </a:pPr>
            <a:r>
              <a:rPr lang="en-US" sz="1800" dirty="0">
                <a:solidFill>
                  <a:schemeClr val="tx1"/>
                </a:solidFill>
              </a:rPr>
              <a:t>Enregistrer un emprunt : le livre devient indisponible et le tableau de bord se met à jour.</a:t>
            </a:r>
            <a:endParaRPr lang="en-US" sz="1800" dirty="0"/>
          </a:p>
        </p:txBody>
      </p:sp>
      <p:sp>
        <p:nvSpPr>
          <p:cNvPr id="9" name="etape-46"/>
          <p:cNvSpPr/>
          <p:nvPr/>
        </p:nvSpPr>
        <p:spPr>
          <a:xfrm>
            <a:off x="612648" y="3383280"/>
            <a:ext cx="685800" cy="685800"/>
          </a:xfrm>
          <a:prstGeom prst="ellipse">
            <a:avLst/>
          </a:prstGeom>
          <a:solidFill>
            <a:schemeClr val="accent3"/>
          </a:solidFill>
          <a:ln/>
        </p:spPr>
      </p:sp>
      <p:sp>
        <p:nvSpPr>
          <p:cNvPr id="10" name="texte-47"/>
          <p:cNvSpPr txBox="1"/>
          <p:nvPr/>
        </p:nvSpPr>
        <p:spPr>
          <a:xfrm>
            <a:off x="612648" y="33832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1" name="Text 15"/>
          <p:cNvSpPr txBox="1"/>
          <p:nvPr/>
        </p:nvSpPr>
        <p:spPr>
          <a:xfrm>
            <a:off x="1572768" y="3337560"/>
            <a:ext cx="9966960" cy="777240"/>
          </a:xfrm>
          <a:prstGeom prst="rect">
            <a:avLst/>
          </a:prstGeom>
          <a:noFill/>
          <a:ln/>
        </p:spPr>
        <p:txBody>
          <a:bodyPr wrap="square" lIns="0" tIns="0" rIns="0" bIns="0" rtlCol="0" anchor="ctr"/>
          <a:lstStyle/>
          <a:p>
            <a:pPr indent="0" marL="0">
              <a:buNone/>
            </a:pPr>
            <a:r>
              <a:rPr lang="en-US" sz="1800" dirty="0">
                <a:solidFill>
                  <a:schemeClr val="tx1"/>
                </a:solidFill>
              </a:rPr>
              <a:t>Essayer une opération interdite : supprimer un adhérent qui a un historique d’emprunts. Elle est refusée avec un message.</a:t>
            </a:r>
            <a:endParaRPr lang="en-US" sz="1800" dirty="0"/>
          </a:p>
        </p:txBody>
      </p:sp>
      <p:sp>
        <p:nvSpPr>
          <p:cNvPr id="12" name="etape-49"/>
          <p:cNvSpPr/>
          <p:nvPr/>
        </p:nvSpPr>
        <p:spPr>
          <a:xfrm>
            <a:off x="612648" y="4343400"/>
            <a:ext cx="685800" cy="685800"/>
          </a:xfrm>
          <a:prstGeom prst="ellipse">
            <a:avLst/>
          </a:prstGeom>
          <a:solidFill>
            <a:schemeClr val="tx2"/>
          </a:solidFill>
          <a:ln/>
        </p:spPr>
      </p:sp>
      <p:sp>
        <p:nvSpPr>
          <p:cNvPr id="13" name="texte-50"/>
          <p:cNvSpPr txBox="1"/>
          <p:nvPr/>
        </p:nvSpPr>
        <p:spPr>
          <a:xfrm>
            <a:off x="612648" y="434340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4" name="Text 15"/>
          <p:cNvSpPr txBox="1"/>
          <p:nvPr/>
        </p:nvSpPr>
        <p:spPr>
          <a:xfrm>
            <a:off x="1572768" y="4297680"/>
            <a:ext cx="9966960" cy="777240"/>
          </a:xfrm>
          <a:prstGeom prst="rect">
            <a:avLst/>
          </a:prstGeom>
          <a:noFill/>
          <a:ln/>
        </p:spPr>
        <p:txBody>
          <a:bodyPr wrap="square" lIns="0" tIns="0" rIns="0" bIns="0" rtlCol="0" anchor="ctr"/>
          <a:lstStyle/>
          <a:p>
            <a:pPr indent="0" marL="0">
              <a:buNone/>
            </a:pPr>
            <a:r>
              <a:rPr lang="en-US" sz="1800" dirty="0">
                <a:solidFill>
                  <a:schemeClr val="tx1"/>
                </a:solidFill>
              </a:rPr>
              <a:t>Retourner le livre, puis afficher le tableau de bord : indicateurs et taux de disponibilité.</a:t>
            </a:r>
            <a:endParaRPr lang="en-US" sz="1800" dirty="0"/>
          </a:p>
        </p:txBody>
      </p:sp>
      <p:sp>
        <p:nvSpPr>
          <p:cNvPr id="15" name="carte-52"/>
          <p:cNvSpPr/>
          <p:nvPr/>
        </p:nvSpPr>
        <p:spPr>
          <a:xfrm>
            <a:off x="612648" y="5349240"/>
            <a:ext cx="10972800" cy="548640"/>
          </a:xfrm>
          <a:prstGeom prst="roundRect">
            <a:avLst>
              <a:gd name="adj" fmla="val 20000"/>
            </a:avLst>
          </a:prstGeom>
          <a:solidFill>
            <a:schemeClr val="tx1"/>
          </a:solidFill>
          <a:ln/>
        </p:spPr>
      </p:sp>
      <p:sp>
        <p:nvSpPr>
          <p:cNvPr id="16" name="texte-53"/>
          <p:cNvSpPr txBox="1"/>
          <p:nvPr/>
        </p:nvSpPr>
        <p:spPr>
          <a:xfrm>
            <a:off x="886968" y="5349240"/>
            <a:ext cx="10424160" cy="548640"/>
          </a:xfrm>
          <a:prstGeom prst="rect">
            <a:avLst/>
          </a:prstGeom>
          <a:noFill/>
          <a:ln/>
        </p:spPr>
        <p:txBody>
          <a:bodyPr wrap="square" lIns="0" tIns="0" rIns="0" bIns="0" rtlCol="0" anchor="ctr"/>
          <a:lstStyle/>
          <a:p>
            <a:pPr indent="0" marL="0">
              <a:buNone/>
            </a:pPr>
            <a:r>
              <a:rPr lang="en-US" sz="1700" b="1" dirty="0">
                <a:solidFill>
                  <a:schemeClr val="accent3"/>
                </a:solidFill>
              </a:rPr>
              <a:t>On passe à l’application. Plan B : les captures en annexe.</a:t>
            </a:r>
            <a:endParaRPr lang="en-US" sz="1700" dirty="0"/>
          </a:p>
        </p:txBody>
      </p:sp>
      <p:sp>
        <p:nvSpPr>
          <p:cNvPr id="25" name="Slide Number Placeholder 0"/>
          <p:cNvSpPr>
            <a:spLocks noGrp="1"/>
          </p:cNvSpPr>
          <p:nvPr>
            <p:ph type="sldNum" sz="quarter" idx="4294967295"/>
          </p:nvPr>
        </p:nvSpPr>
        <p:spPr>
          <a:xfrm>
            <a:off x="1110996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12648" y="384048"/>
            <a:ext cx="10972800" cy="777240"/>
          </a:xfrm>
          <a:prstGeom prst="rect">
            <a:avLst/>
          </a:prstGeom>
          <a:noFill/>
          <a:ln/>
        </p:spPr>
        <p:txBody>
          <a:bodyPr wrap="square" lIns="0" tIns="0" rIns="0" bIns="0" rtlCol="0" anchor="ctr"/>
          <a:lstStyle/>
          <a:p>
            <a:pPr algn="l" indent="0" marL="0">
              <a:buNone/>
            </a:pPr>
            <a:r>
              <a:rPr lang="en-US" sz="3400" b="1" dirty="0">
                <a:solidFill>
                  <a:schemeClr val="tx1"/>
                </a:solidFill>
              </a:rPr>
              <a:t>L’IA dans notre projet</a:t>
            </a:r>
            <a:endParaRPr lang="en-US" sz="3400" dirty="0"/>
          </a:p>
        </p:txBody>
      </p:sp>
      <p:graphicFrame>
        <p:nvGraphicFramePr>
          <p:cNvPr id="7" name="tableau-54"/>
          <p:cNvGraphicFramePr>
            <a:graphicFrameLocks noGrp="1"/>
          </p:cNvGraphicFramePr>
          <p:nvPr>
            <p:extLst>
              <p:ext uri="{D42A27DB-BD31-4B8C-83A1-F6EECF244321}">
                <p14:modId xmlns:p14="http://schemas.microsoft.com/office/powerpoint/2010/main" val="1579011935"/>
              </p:ext>
            </p:extLst>
          </p:nvPr>
        </p:nvGraphicFramePr>
        <p:xfrm>
          <a:off x="612648" y="1417320"/>
          <a:ext cx="10972800" cy="1720000"/>
        </p:xfrm>
        <a:graphic>
          <a:graphicData uri="http://schemas.openxmlformats.org/drawingml/2006/table">
            <a:tbl>
              <a:tblPr/>
              <a:tblGrid>
                <a:gridCol w="2377440"/>
                <a:gridCol w="4206240"/>
                <a:gridCol w="4389120"/>
              </a:tblGrid>
              <a:tr h="420000">
                <a:tc>
                  <a:txBody>
                    <a:bodyPr/>
                    <a:lstStyle/>
                    <a:p>
                      <a:pPr algn="l" indent="0" marL="0">
                        <a:buNone/>
                      </a:pPr>
                      <a:r>
                        <a:rPr lang="en-US" sz="1600" b="1" dirty="0">
                          <a:solidFill>
                            <a:schemeClr val="bg1"/>
                          </a:solidFill>
                        </a:rPr>
                        <a:t>Outil</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tx1"/>
                    </a:solidFill>
                  </a:tcPr>
                </a:tc>
                <a:tc>
                  <a:txBody>
                    <a:bodyPr/>
                    <a:lstStyle/>
                    <a:p>
                      <a:pPr algn="l" indent="0" marL="0">
                        <a:buNone/>
                      </a:pPr>
                      <a:r>
                        <a:rPr lang="en-US" sz="1600" b="1" dirty="0">
                          <a:solidFill>
                            <a:schemeClr val="bg1"/>
                          </a:solidFill>
                        </a:rPr>
                        <a:t>Utilisé pour</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tx1"/>
                    </a:solidFill>
                  </a:tcPr>
                </a:tc>
                <a:tc>
                  <a:txBody>
                    <a:bodyPr/>
                    <a:lstStyle/>
                    <a:p>
                      <a:pPr algn="l" indent="0" marL="0">
                        <a:buNone/>
                      </a:pPr>
                      <a:r>
                        <a:rPr lang="en-US" sz="1600" b="1" dirty="0">
                          <a:solidFill>
                            <a:schemeClr val="bg1"/>
                          </a:solidFill>
                        </a:rPr>
                        <a:t>Notre avis</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tx1"/>
                    </a:solidFill>
                  </a:tcPr>
                </a:tc>
              </a:tr>
              <a:tr h="780000">
                <a:tc>
                  <a:txBody>
                    <a:bodyPr/>
                    <a:lstStyle/>
                    <a:p>
                      <a:pPr indent="0" marL="0">
                        <a:buNone/>
                      </a:pPr>
                      <a:r>
                        <a:rPr lang="en-US" sz="1400" dirty="0">
                          <a:solidFill>
                            <a:schemeClr val="tx1"/>
                          </a:solidFill>
                        </a:rPr>
                        <a:t>Claude</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Tout le projet : base de données, code Java, API Spring Boot, interface web, tests</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Très utile pour avancer pas à pas ; ses propositions doivent être vérifiées (voir diapo 7)</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2"/>
                    </a:solidFill>
                  </a:tcPr>
                </a:tc>
              </a:tr>
              <a:tr h="520000">
                <a:tc>
                  <a:txBody>
                    <a:bodyPr/>
                    <a:lstStyle/>
                    <a:p>
                      <a:pPr indent="0" marL="0">
                        <a:buNone/>
                      </a:pPr>
                      <a:r>
                        <a:rPr lang="en-US" sz="1400" dirty="0">
                          <a:solidFill>
                            <a:schemeClr val="accent5"/>
                          </a:solidFill>
                        </a:rPr>
                        <a:t>[2e assistant à indiquer]</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5"/>
                          </a:solidFill>
                        </a:rPr>
                        <a:t>[à compléter]</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5"/>
                          </a:solidFill>
                        </a:rPr>
                        <a:t>[à compléter]</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r>
            </a:tbl>
          </a:graphicData>
        </a:graphic>
      </p:graphicFrame>
      <p:sp>
        <p:nvSpPr>
          <p:cNvPr id="4" name="carte-55"/>
          <p:cNvSpPr/>
          <p:nvPr/>
        </p:nvSpPr>
        <p:spPr>
          <a:xfrm>
            <a:off x="612648" y="3931920"/>
            <a:ext cx="10972800" cy="1874520"/>
          </a:xfrm>
          <a:prstGeom prst="roundRect">
            <a:avLst>
              <a:gd name="adj" fmla="val 5854"/>
            </a:avLst>
          </a:prstGeom>
          <a:solidFill>
            <a:schemeClr val="bg2"/>
          </a:solidFill>
          <a:ln/>
        </p:spPr>
      </p:sp>
      <p:sp>
        <p:nvSpPr>
          <p:cNvPr id="5" name="pastille-56"/>
          <p:cNvSpPr/>
          <p:nvPr/>
        </p:nvSpPr>
        <p:spPr>
          <a:xfrm>
            <a:off x="886968" y="4160520"/>
            <a:ext cx="685800" cy="685800"/>
          </a:xfrm>
          <a:prstGeom prst="ellipse">
            <a:avLst/>
          </a:prstGeom>
          <a:solidFill>
            <a:schemeClr val="accent3"/>
          </a:solidFill>
          <a:ln/>
        </p:spPr>
      </p:sp>
      <p:pic>
        <p:nvPicPr>
          <p:cNvPr id="6" name="icone-57" descr="FaStar">    </p:cNvPr>
          <p:cNvPicPr>
            <a:picLocks noChangeAspect="1"/>
          </p:cNvPicPr>
          <p:nvPr/>
        </p:nvPicPr>
        <p:blipFill>
          <a:blip r:embed="rId1"/>
          <a:stretch>
            <a:fillRect/>
          </a:stretch>
        </p:blipFill>
        <p:spPr>
          <a:xfrm>
            <a:off x="1072134" y="4345686"/>
            <a:ext cx="315468" cy="315468"/>
          </a:xfrm>
          <a:prstGeom prst="rect">
            <a:avLst/>
          </a:prstGeom>
        </p:spPr>
      </p:pic>
      <p:sp>
        <p:nvSpPr>
          <p:cNvPr id="7" name="texte-58"/>
          <p:cNvSpPr txBox="1"/>
          <p:nvPr/>
        </p:nvSpPr>
        <p:spPr>
          <a:xfrm>
            <a:off x="1755648" y="4160520"/>
            <a:ext cx="9509760" cy="457200"/>
          </a:xfrm>
          <a:prstGeom prst="rect">
            <a:avLst/>
          </a:prstGeom>
          <a:noFill/>
          <a:ln/>
        </p:spPr>
        <p:txBody>
          <a:bodyPr wrap="square" lIns="0" tIns="0" rIns="0" bIns="0" rtlCol="0" anchor="t"/>
          <a:lstStyle/>
          <a:p>
            <a:pPr indent="0" marL="0">
              <a:buNone/>
            </a:pPr>
            <a:r>
              <a:rPr lang="en-US" sz="1800" b="1" dirty="0">
                <a:solidFill>
                  <a:schemeClr val="tx1"/>
                </a:solidFill>
              </a:rPr>
              <a:t>Notre meilleur prompt</a:t>
            </a:r>
            <a:endParaRPr lang="en-US" sz="1800" dirty="0"/>
          </a:p>
        </p:txBody>
      </p:sp>
      <p:sp>
        <p:nvSpPr>
          <p:cNvPr id="8" name="Text 15"/>
          <p:cNvSpPr txBox="1"/>
          <p:nvPr/>
        </p:nvSpPr>
        <p:spPr>
          <a:xfrm>
            <a:off x="1755648" y="4663440"/>
            <a:ext cx="9509760" cy="1005840"/>
          </a:xfrm>
          <a:prstGeom prst="rect">
            <a:avLst/>
          </a:prstGeom>
          <a:noFill/>
          <a:ln/>
        </p:spPr>
        <p:txBody>
          <a:bodyPr wrap="square" lIns="0" tIns="0" rIns="0" bIns="0" rtlCol="0" anchor="ctr"/>
          <a:lstStyle/>
          <a:p>
            <a:pPr indent="0" marL="0">
              <a:buNone/>
            </a:pPr>
            <a:r>
              <a:rPr lang="en-US" sz="1400" dirty="0">
                <a:solidFill>
                  <a:schemeClr val="tx1"/>
                </a:solidFill>
              </a:rPr>
              <a:t>« Tu es un développeur Java et mon formateur. Je suis étudiant en informatique de gestion. Crée une petite application de gestion de bibliothèque en Java console (ajouter et afficher livres et adhérents, emprunter, retourner, rechercher). Contraintes : Scanner, ArrayList, POO simple. Explique brièvement les classes et indique comment compiler et exécuter. »</a:t>
            </a:r>
            <a:endParaRPr lang="en-US" sz="1600" dirty="0"/>
          </a:p>
        </p:txBody>
      </p:sp>
      <p:sp>
        <p:nvSpPr>
          <p:cNvPr id="25" name="Slide Number Placeholder 0"/>
          <p:cNvSpPr>
            <a:spLocks noGrp="1"/>
          </p:cNvSpPr>
          <p:nvPr>
            <p:ph type="sldNum" sz="quarter" idx="4294967295"/>
          </p:nvPr>
        </p:nvSpPr>
        <p:spPr>
          <a:xfrm>
            <a:off x="1110996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12648" y="384048"/>
            <a:ext cx="10972800" cy="777240"/>
          </a:xfrm>
          <a:prstGeom prst="rect">
            <a:avLst/>
          </a:prstGeom>
          <a:noFill/>
          <a:ln/>
        </p:spPr>
        <p:txBody>
          <a:bodyPr wrap="square" lIns="0" tIns="0" rIns="0" bIns="0" rtlCol="0" anchor="ctr"/>
          <a:lstStyle/>
          <a:p>
            <a:pPr algn="l" indent="0" marL="0">
              <a:buNone/>
            </a:pPr>
            <a:r>
              <a:rPr lang="en-US" sz="3400" b="1" dirty="0">
                <a:solidFill>
                  <a:schemeClr val="tx1"/>
                </a:solidFill>
              </a:rPr>
              <a:t>Une erreur de l’IA que nous avons repérée</a:t>
            </a:r>
            <a:endParaRPr lang="en-US" sz="3400" dirty="0"/>
          </a:p>
        </p:txBody>
      </p:sp>
      <p:sp>
        <p:nvSpPr>
          <p:cNvPr id="3" name="carte-60"/>
          <p:cNvSpPr/>
          <p:nvPr/>
        </p:nvSpPr>
        <p:spPr>
          <a:xfrm>
            <a:off x="612648" y="1417320"/>
            <a:ext cx="3474720" cy="4023360"/>
          </a:xfrm>
          <a:prstGeom prst="roundRect">
            <a:avLst>
              <a:gd name="adj" fmla="val 3158"/>
            </a:avLst>
          </a:prstGeom>
          <a:solidFill>
            <a:schemeClr val="bg1"/>
          </a:solidFill>
          <a:ln w="9525">
            <a:solidFill>
              <a:srgbClr val="E3E6EE"/>
            </a:solidFill>
            <a:prstDash val="solid"/>
          </a:ln>
          <a:effectLst>
            <a:outerShdw sx="100000" sy="100000" kx="0" ky="0" algn="bl" rotWithShape="0" blurRad="101600" dist="25400" dir="5400000">
              <a:srgbClr val="000000">
                <a:alpha val="8000"/>
              </a:srgbClr>
            </a:outerShdw>
          </a:effectLst>
        </p:spPr>
      </p:sp>
      <p:sp>
        <p:nvSpPr>
          <p:cNvPr id="4" name="texte-61"/>
          <p:cNvSpPr txBox="1"/>
          <p:nvPr/>
        </p:nvSpPr>
        <p:spPr>
          <a:xfrm>
            <a:off x="886968" y="1554480"/>
            <a:ext cx="2926080" cy="457200"/>
          </a:xfrm>
          <a:prstGeom prst="rect">
            <a:avLst/>
          </a:prstGeom>
          <a:noFill/>
          <a:ln/>
        </p:spPr>
        <p:txBody>
          <a:bodyPr wrap="square" lIns="0" tIns="0" rIns="0" bIns="0" rtlCol="0" anchor="t"/>
          <a:lstStyle/>
          <a:p>
            <a:pPr indent="0" marL="0">
              <a:buNone/>
            </a:pPr>
            <a:r>
              <a:rPr lang="en-US" sz="1800" b="1" dirty="0">
                <a:solidFill>
                  <a:schemeClr val="accent1"/>
                </a:solidFill>
              </a:rPr>
              <a:t>Ce que l’IA a proposé</a:t>
            </a:r>
            <a:endParaRPr lang="en-US" sz="1800" dirty="0"/>
          </a:p>
        </p:txBody>
      </p:sp>
      <p:sp>
        <p:nvSpPr>
          <p:cNvPr id="5" name="bloc-code-62"/>
          <p:cNvSpPr/>
          <p:nvPr/>
        </p:nvSpPr>
        <p:spPr>
          <a:xfrm>
            <a:off x="886968" y="2103120"/>
            <a:ext cx="2926080" cy="3108960"/>
          </a:xfrm>
          <a:prstGeom prst="roundRect">
            <a:avLst>
              <a:gd name="adj" fmla="val 3125"/>
            </a:avLst>
          </a:prstGeom>
          <a:solidFill>
            <a:schemeClr val="tx1"/>
          </a:solidFill>
          <a:ln/>
        </p:spPr>
      </p:sp>
      <p:sp>
        <p:nvSpPr>
          <p:cNvPr id="6" name="texte-63"/>
          <p:cNvSpPr txBox="1"/>
          <p:nvPr/>
        </p:nvSpPr>
        <p:spPr>
          <a:xfrm>
            <a:off x="1069848" y="2240280"/>
            <a:ext cx="2560320" cy="2834640"/>
          </a:xfrm>
          <a:prstGeom prst="rect">
            <a:avLst/>
          </a:prstGeom>
          <a:noFill/>
          <a:ln/>
        </p:spPr>
        <p:txBody>
          <a:bodyPr wrap="square" lIns="0" tIns="0" rIns="0" bIns="0" rtlCol="0" anchor="t"/>
          <a:lstStyle/>
          <a:p>
            <a:pPr indent="0" marL="0">
              <a:buNone/>
            </a:pPr>
            <a:r>
              <a:rPr lang="en-US" sz="1300" dirty="0">
                <a:solidFill>
                  <a:srgbClr val="E3E6EE"/>
                </a:solidFill>
                <a:latin typeface="Courier New" pitchFamily="34" charset="0"/>
                <a:ea typeface="Courier New" pitchFamily="34" charset="-122"/>
                <a:cs typeface="Courier New" pitchFamily="34" charset="-120"/>
              </a:rPr>
              <a:t>&lt;dependency&gt;</a:t>
            </a:r>
            <a:endParaRPr lang="en-US" sz="1400" dirty="0"/>
          </a:p>
          <a:p>
            <a:pPr indent="0" marL="0">
              <a:buNone/>
            </a:pPr>
            <a:r>
              <a:rPr lang="en-US" sz="1300" dirty="0">
                <a:solidFill>
                  <a:srgbClr val="E3E6EE"/>
                </a:solidFill>
                <a:latin typeface="Courier New" pitchFamily="34" charset="0"/>
                <a:ea typeface="Courier New" pitchFamily="34" charset="-122"/>
                <a:cs typeface="Courier New" pitchFamily="34" charset="-120"/>
              </a:rPr>
              <a:t>  mysql-connector-j</a:t>
            </a:r>
            <a:endParaRPr lang="en-US" sz="1400" dirty="0"/>
          </a:p>
          <a:p>
            <a:pPr indent="0" marL="0">
              <a:buNone/>
            </a:pPr>
            <a:r>
              <a:rPr lang="en-US" sz="1300" dirty="0">
                <a:solidFill>
                  <a:srgbClr val="E3E6EE"/>
                </a:solidFill>
                <a:latin typeface="Courier New" pitchFamily="34" charset="0"/>
                <a:ea typeface="Courier New" pitchFamily="34" charset="-122"/>
                <a:cs typeface="Courier New" pitchFamily="34" charset="-120"/>
              </a:rPr>
              <a:t>&lt;/dependency&gt;</a:t>
            </a:r>
            <a:endParaRPr lang="en-US" sz="1400" dirty="0"/>
          </a:p>
          <a:p>
            <a:pPr indent="0" marL="0">
              <a:buNone/>
            </a:pPr>
            <a:r>
              <a:rPr lang="en-US" sz="1300" dirty="0">
                <a:solidFill>
                  <a:srgbClr val="E3E6EE"/>
                </a:solidFill>
                <a:latin typeface="Courier New" pitchFamily="34" charset="0"/>
                <a:ea typeface="Courier New" pitchFamily="34" charset="-122"/>
                <a:cs typeface="Courier New" pitchFamily="34" charset="-120"/>
              </a:rPr>
              <a:t/>
            </a:r>
            <a:endParaRPr lang="en-US" sz="1400" dirty="0"/>
          </a:p>
          <a:p>
            <a:pPr indent="0" marL="0">
              <a:buNone/>
            </a:pPr>
            <a:r>
              <a:rPr lang="en-US" sz="1300" dirty="0">
                <a:solidFill>
                  <a:srgbClr val="E3E6EE"/>
                </a:solidFill>
                <a:latin typeface="Courier New" pitchFamily="34" charset="0"/>
                <a:ea typeface="Courier New" pitchFamily="34" charset="-122"/>
                <a:cs typeface="Courier New" pitchFamily="34" charset="-120"/>
              </a:rPr>
              <a:t>url=jdbc:mysql://</a:t>
            </a:r>
            <a:endParaRPr lang="en-US" sz="1400" dirty="0"/>
          </a:p>
          <a:p>
            <a:pPr indent="0" marL="0">
              <a:buNone/>
            </a:pPr>
            <a:r>
              <a:rPr lang="en-US" sz="1300" dirty="0">
                <a:solidFill>
                  <a:srgbClr val="E3E6EE"/>
                </a:solidFill>
                <a:latin typeface="Courier New" pitchFamily="34" charset="0"/>
                <a:ea typeface="Courier New" pitchFamily="34" charset="-122"/>
                <a:cs typeface="Courier New" pitchFamily="34" charset="-120"/>
              </a:rPr>
              <a:t>localhost:3306/bibliotheque</a:t>
            </a:r>
            <a:endParaRPr lang="en-US" sz="1400" dirty="0"/>
          </a:p>
        </p:txBody>
      </p:sp>
      <p:sp>
        <p:nvSpPr>
          <p:cNvPr id="7" name="carte-64"/>
          <p:cNvSpPr/>
          <p:nvPr/>
        </p:nvSpPr>
        <p:spPr>
          <a:xfrm>
            <a:off x="4361688" y="1417320"/>
            <a:ext cx="3474720" cy="4023360"/>
          </a:xfrm>
          <a:prstGeom prst="roundRect">
            <a:avLst>
              <a:gd name="adj" fmla="val 3158"/>
            </a:avLst>
          </a:prstGeom>
          <a:solidFill>
            <a:schemeClr val="bg1"/>
          </a:solidFill>
          <a:ln w="9525">
            <a:solidFill>
              <a:srgbClr val="E3E6EE"/>
            </a:solidFill>
            <a:prstDash val="solid"/>
          </a:ln>
          <a:effectLst>
            <a:outerShdw sx="100000" sy="100000" kx="0" ky="0" algn="bl" rotWithShape="0" blurRad="101600" dist="25400" dir="5400000">
              <a:srgbClr val="000000">
                <a:alpha val="8000"/>
              </a:srgbClr>
            </a:outerShdw>
          </a:effectLst>
        </p:spPr>
      </p:sp>
      <p:sp>
        <p:nvSpPr>
          <p:cNvPr id="8" name="pastille-65"/>
          <p:cNvSpPr/>
          <p:nvPr/>
        </p:nvSpPr>
        <p:spPr>
          <a:xfrm>
            <a:off x="4636008" y="1691640"/>
            <a:ext cx="685800" cy="685800"/>
          </a:xfrm>
          <a:prstGeom prst="ellipse">
            <a:avLst/>
          </a:prstGeom>
          <a:solidFill>
            <a:schemeClr val="accent3"/>
          </a:solidFill>
          <a:ln/>
        </p:spPr>
      </p:sp>
      <p:pic>
        <p:nvPicPr>
          <p:cNvPr id="9" name="icone-66" descr="FaSearch">    </p:cNvPr>
          <p:cNvPicPr>
            <a:picLocks noChangeAspect="1"/>
          </p:cNvPicPr>
          <p:nvPr/>
        </p:nvPicPr>
        <p:blipFill>
          <a:blip r:embed="rId1"/>
          <a:stretch>
            <a:fillRect/>
          </a:stretch>
        </p:blipFill>
        <p:spPr>
          <a:xfrm>
            <a:off x="4821174" y="1876806"/>
            <a:ext cx="315468" cy="315468"/>
          </a:xfrm>
          <a:prstGeom prst="rect">
            <a:avLst/>
          </a:prstGeom>
        </p:spPr>
      </p:pic>
      <p:sp>
        <p:nvSpPr>
          <p:cNvPr id="10" name="texte-67"/>
          <p:cNvSpPr txBox="1"/>
          <p:nvPr/>
        </p:nvSpPr>
        <p:spPr>
          <a:xfrm>
            <a:off x="5504688" y="1691640"/>
            <a:ext cx="2103120" cy="685800"/>
          </a:xfrm>
          <a:prstGeom prst="rect">
            <a:avLst/>
          </a:prstGeom>
          <a:noFill/>
          <a:ln/>
        </p:spPr>
        <p:txBody>
          <a:bodyPr wrap="square" lIns="0" tIns="0" rIns="0" bIns="0" rtlCol="0" anchor="ctr"/>
          <a:lstStyle/>
          <a:p>
            <a:pPr indent="0" marL="0">
              <a:buNone/>
            </a:pPr>
            <a:r>
              <a:rPr lang="en-US" sz="1900" b="1" dirty="0">
                <a:solidFill>
                  <a:schemeClr val="tx1"/>
                </a:solidFill>
              </a:rPr>
              <a:t>Comment nous l’avons vue</a:t>
            </a:r>
            <a:endParaRPr lang="en-US" sz="1900" dirty="0"/>
          </a:p>
        </p:txBody>
      </p:sp>
      <p:sp>
        <p:nvSpPr>
          <p:cNvPr id="11" name="Text 15"/>
          <p:cNvSpPr txBox="1"/>
          <p:nvPr/>
        </p:nvSpPr>
        <p:spPr>
          <a:xfrm>
            <a:off x="4636008" y="2560320"/>
            <a:ext cx="2926080" cy="2743200"/>
          </a:xfrm>
          <a:prstGeom prst="rect">
            <a:avLst/>
          </a:prstGeom>
          <a:noFill/>
          <a:ln/>
        </p:spPr>
        <p:txBody>
          <a:bodyPr wrap="square" lIns="0" tIns="0" rIns="0" bIns="0" rtlCol="0" anchor="ctr"/>
          <a:lstStyle/>
          <a:p>
            <a:pPr indent="0" marL="0">
              <a:buNone/>
            </a:pPr>
            <a:r>
              <a:rPr lang="en-US" sz="1400" dirty="0">
                <a:solidFill>
                  <a:schemeClr val="tx1"/>
                </a:solidFill>
              </a:rPr>
              <a:t>Notre serveur est MariaDB (XAMPP) et le cours impose le pilote mariadb-java-client. La recherche a confirmé : le connecteur MySQL 8.x échoue avec MariaDB (« Unknown system variable 'transaction_isolation' », bug MySQL n° 112960).</a:t>
            </a:r>
            <a:endParaRPr lang="en-US" sz="1550" dirty="0"/>
          </a:p>
        </p:txBody>
      </p:sp>
      <p:sp>
        <p:nvSpPr>
          <p:cNvPr id="12" name="carte-69"/>
          <p:cNvSpPr/>
          <p:nvPr/>
        </p:nvSpPr>
        <p:spPr>
          <a:xfrm>
            <a:off x="8110728" y="1417320"/>
            <a:ext cx="3474720" cy="4023360"/>
          </a:xfrm>
          <a:prstGeom prst="roundRect">
            <a:avLst>
              <a:gd name="adj" fmla="val 3158"/>
            </a:avLst>
          </a:prstGeom>
          <a:solidFill>
            <a:schemeClr val="bg1"/>
          </a:solidFill>
          <a:ln w="9525">
            <a:solidFill>
              <a:srgbClr val="E3E6EE"/>
            </a:solidFill>
            <a:prstDash val="solid"/>
          </a:ln>
          <a:effectLst>
            <a:outerShdw sx="100000" sy="100000" kx="0" ky="0" algn="bl" rotWithShape="0" blurRad="101600" dist="25400" dir="5400000">
              <a:srgbClr val="000000">
                <a:alpha val="8000"/>
              </a:srgbClr>
            </a:outerShdw>
          </a:effectLst>
        </p:spPr>
      </p:sp>
      <p:sp>
        <p:nvSpPr>
          <p:cNvPr id="13" name="pastille-70"/>
          <p:cNvSpPr/>
          <p:nvPr/>
        </p:nvSpPr>
        <p:spPr>
          <a:xfrm>
            <a:off x="8385048" y="1691640"/>
            <a:ext cx="685800" cy="685800"/>
          </a:xfrm>
          <a:prstGeom prst="ellipse">
            <a:avLst/>
          </a:prstGeom>
          <a:solidFill>
            <a:schemeClr val="accent2"/>
          </a:solidFill>
          <a:ln/>
        </p:spPr>
      </p:sp>
      <p:pic>
        <p:nvPicPr>
          <p:cNvPr id="14" name="icone-71" descr="FaCheck">    </p:cNvPr>
          <p:cNvPicPr>
            <a:picLocks noChangeAspect="1"/>
          </p:cNvPicPr>
          <p:nvPr/>
        </p:nvPicPr>
        <p:blipFill>
          <a:blip r:embed="rId2"/>
          <a:stretch>
            <a:fillRect/>
          </a:stretch>
        </p:blipFill>
        <p:spPr>
          <a:xfrm>
            <a:off x="8570214" y="1876806"/>
            <a:ext cx="315468" cy="315468"/>
          </a:xfrm>
          <a:prstGeom prst="rect">
            <a:avLst/>
          </a:prstGeom>
        </p:spPr>
      </p:pic>
      <p:sp>
        <p:nvSpPr>
          <p:cNvPr id="15" name="texte-72"/>
          <p:cNvSpPr txBox="1"/>
          <p:nvPr/>
        </p:nvSpPr>
        <p:spPr>
          <a:xfrm>
            <a:off x="9253728" y="1691640"/>
            <a:ext cx="2103120" cy="685800"/>
          </a:xfrm>
          <a:prstGeom prst="rect">
            <a:avLst/>
          </a:prstGeom>
          <a:noFill/>
          <a:ln/>
        </p:spPr>
        <p:txBody>
          <a:bodyPr wrap="square" lIns="0" tIns="0" rIns="0" bIns="0" rtlCol="0" anchor="ctr"/>
          <a:lstStyle/>
          <a:p>
            <a:pPr indent="0" marL="0">
              <a:buNone/>
            </a:pPr>
            <a:r>
              <a:rPr lang="en-US" sz="1900" b="1" dirty="0">
                <a:solidFill>
                  <a:schemeClr val="tx1"/>
                </a:solidFill>
              </a:rPr>
              <a:t>Notre correction</a:t>
            </a:r>
            <a:endParaRPr lang="en-US" sz="1900" dirty="0"/>
          </a:p>
        </p:txBody>
      </p:sp>
      <p:sp>
        <p:nvSpPr>
          <p:cNvPr id="16" name="Text 15"/>
          <p:cNvSpPr txBox="1"/>
          <p:nvPr/>
        </p:nvSpPr>
        <p:spPr>
          <a:xfrm>
            <a:off x="8385048" y="2560320"/>
            <a:ext cx="2926080" cy="2743200"/>
          </a:xfrm>
          <a:prstGeom prst="rect">
            <a:avLst/>
          </a:prstGeom>
          <a:noFill/>
          <a:ln/>
        </p:spPr>
        <p:txBody>
          <a:bodyPr wrap="square" lIns="0" tIns="0" rIns="0" bIns="0" rtlCol="0" anchor="ctr"/>
          <a:lstStyle/>
          <a:p>
            <a:pPr indent="0" marL="0">
              <a:buNone/>
            </a:pPr>
            <a:r>
              <a:rPr lang="en-US" sz="1400" dirty="0">
                <a:solidFill>
                  <a:schemeClr val="tx1"/>
                </a:solidFill>
              </a:rPr>
              <a:t>Pilote MariaDB (mariadb-java-client) dans pom.xml et URL jdbc:mariadb://…, pour l’API et la console.</a:t>
            </a:r>
            <a:endParaRPr lang="en-US" sz="1550" dirty="0"/>
          </a:p>
          <a:p>
            <a:pPr indent="0" marL="0">
              <a:buNone/>
            </a:pPr>
            <a:r>
              <a:rPr lang="en-US" sz="1400" dirty="0">
                <a:solidFill>
                  <a:schemeClr val="tx1"/>
                </a:solidFill>
              </a:rPr>
              <a:t>Prompt de relance : « Il doit fonctionner avec le pilote mariadb-java-client-2.7.6.jar. »</a:t>
            </a:r>
            <a:endParaRPr lang="en-US" sz="1550" dirty="0"/>
          </a:p>
        </p:txBody>
      </p:sp>
      <p:sp>
        <p:nvSpPr>
          <p:cNvPr id="25" name="Slide Number Placeholder 0"/>
          <p:cNvSpPr>
            <a:spLocks noGrp="1"/>
          </p:cNvSpPr>
          <p:nvPr>
            <p:ph type="sldNum" sz="quarter" idx="4294967295"/>
          </p:nvPr>
        </p:nvSpPr>
        <p:spPr>
          <a:xfrm>
            <a:off x="1110996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12648" y="384048"/>
            <a:ext cx="10972800" cy="777240"/>
          </a:xfrm>
          <a:prstGeom prst="rect">
            <a:avLst/>
          </a:prstGeom>
          <a:noFill/>
          <a:ln/>
        </p:spPr>
        <p:txBody>
          <a:bodyPr wrap="square" lIns="0" tIns="0" rIns="0" bIns="0" rtlCol="0" anchor="ctr"/>
          <a:lstStyle/>
          <a:p>
            <a:pPr algn="l" indent="0" marL="0">
              <a:buNone/>
            </a:pPr>
            <a:r>
              <a:rPr lang="en-US" sz="3400" b="1" dirty="0">
                <a:solidFill>
                  <a:schemeClr val="tx1"/>
                </a:solidFill>
              </a:rPr>
              <a:t>Tests et sécurité</a:t>
            </a:r>
            <a:endParaRPr lang="en-US" sz="3400" dirty="0"/>
          </a:p>
        </p:txBody>
      </p:sp>
      <p:graphicFrame>
        <p:nvGraphicFramePr>
          <p:cNvPr id="9" name="tableau-74"/>
          <p:cNvGraphicFramePr>
            <a:graphicFrameLocks noGrp="1"/>
          </p:cNvGraphicFramePr>
          <p:nvPr>
            <p:extLst>
              <p:ext uri="{D42A27DB-BD31-4B8C-83A1-F6EECF244321}">
                <p14:modId xmlns:p14="http://schemas.microsoft.com/office/powerpoint/2010/main" val="1579011935"/>
              </p:ext>
            </p:extLst>
          </p:nvPr>
        </p:nvGraphicFramePr>
        <p:xfrm>
          <a:off x="612648" y="1417320"/>
          <a:ext cx="10972800" cy="2340000"/>
        </p:xfrm>
        <a:graphic>
          <a:graphicData uri="http://schemas.openxmlformats.org/drawingml/2006/table">
            <a:tbl>
              <a:tblPr/>
              <a:tblGrid>
                <a:gridCol w="4206240"/>
                <a:gridCol w="3566160"/>
                <a:gridCol w="3200400"/>
              </a:tblGrid>
              <a:tr h="420000">
                <a:tc>
                  <a:txBody>
                    <a:bodyPr/>
                    <a:lstStyle/>
                    <a:p>
                      <a:pPr algn="l" indent="0" marL="0">
                        <a:buNone/>
                      </a:pPr>
                      <a:r>
                        <a:rPr lang="en-US" sz="1600" b="1" dirty="0">
                          <a:solidFill>
                            <a:schemeClr val="bg1"/>
                          </a:solidFill>
                        </a:rPr>
                        <a:t>Ce que nous avons testé</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tx1"/>
                    </a:solidFill>
                  </a:tcPr>
                </a:tc>
                <a:tc>
                  <a:txBody>
                    <a:bodyPr/>
                    <a:lstStyle/>
                    <a:p>
                      <a:pPr algn="l" indent="0" marL="0">
                        <a:buNone/>
                      </a:pPr>
                      <a:r>
                        <a:rPr lang="en-US" sz="1600" b="1" dirty="0">
                          <a:solidFill>
                            <a:schemeClr val="bg1"/>
                          </a:solidFill>
                        </a:rPr>
                        <a:t>Résultat attendu</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tx1"/>
                    </a:solidFill>
                  </a:tcPr>
                </a:tc>
                <a:tc>
                  <a:txBody>
                    <a:bodyPr/>
                    <a:lstStyle/>
                    <a:p>
                      <a:pPr algn="l" indent="0" marL="0">
                        <a:buNone/>
                      </a:pPr>
                      <a:r>
                        <a:rPr lang="en-US" sz="1600" b="1" dirty="0">
                          <a:solidFill>
                            <a:schemeClr val="bg1"/>
                          </a:solidFill>
                        </a:rPr>
                        <a:t>Résultat obtenu</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tx1"/>
                    </a:solidFill>
                  </a:tcPr>
                </a:tc>
              </a:tr>
              <a:tr h="640000">
                <a:tc>
                  <a:txBody>
                    <a:bodyPr/>
                    <a:lstStyle/>
                    <a:p>
                      <a:pPr indent="0" marL="0">
                        <a:buNone/>
                      </a:pPr>
                      <a:r>
                        <a:rPr lang="en-US" sz="1400" dirty="0">
                          <a:solidFill>
                            <a:schemeClr val="tx1"/>
                          </a:solidFill>
                        </a:rPr>
                        <a:t>Emprunter un 4e livre avec le même adhérent</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Refusé : limite de 3 livres</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 Refusé (code 409)</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2"/>
                    </a:solidFill>
                  </a:tcPr>
                </a:tc>
              </a:tr>
              <a:tr h="640000">
                <a:tc>
                  <a:txBody>
                    <a:bodyPr/>
                    <a:lstStyle/>
                    <a:p>
                      <a:pPr indent="0" marL="0">
                        <a:buNone/>
                      </a:pPr>
                      <a:r>
                        <a:rPr lang="en-US" sz="1400" dirty="0">
                          <a:solidFill>
                            <a:schemeClr val="tx1"/>
                          </a:solidFill>
                        </a:rPr>
                        <a:t>Supprimer un livre emprunté, ou un adhérent qui a un historique</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Refusé avec un message</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 Refusé avec message</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r>
              <a:tr h="640000">
                <a:tc>
                  <a:txBody>
                    <a:bodyPr/>
                    <a:lstStyle/>
                    <a:p>
                      <a:pPr indent="0" marL="0">
                        <a:buNone/>
                      </a:pPr>
                      <a:r>
                        <a:rPr lang="en-US" sz="1400" dirty="0">
                          <a:solidFill>
                            <a:schemeClr val="tx1"/>
                          </a:solidFill>
                        </a:rPr>
                        <a:t>Rechercher « MARIAMA » en majuscules ; saisir du HTML dans un nom</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Livre trouvé ; HTML affiché comme texte</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 Trouvé ; pas de code exécuté</a:t>
                      </a:r>
                      <a:endParaRPr lang="en-US" sz="16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2"/>
                    </a:solidFill>
                  </a:tcPr>
                </a:tc>
              </a:tr>
            </a:tbl>
          </a:graphicData>
        </a:graphic>
      </p:graphicFrame>
      <p:sp>
        <p:nvSpPr>
          <p:cNvPr id="4" name="carte-75"/>
          <p:cNvSpPr/>
          <p:nvPr/>
        </p:nvSpPr>
        <p:spPr>
          <a:xfrm>
            <a:off x="612648" y="4231920"/>
            <a:ext cx="10972800" cy="1874520"/>
          </a:xfrm>
          <a:prstGeom prst="roundRect">
            <a:avLst>
              <a:gd name="adj" fmla="val 5854"/>
            </a:avLst>
          </a:prstGeom>
          <a:solidFill>
            <a:schemeClr val="bg2"/>
          </a:solidFill>
          <a:ln/>
        </p:spPr>
      </p:sp>
      <p:sp>
        <p:nvSpPr>
          <p:cNvPr id="5" name="pastille-76"/>
          <p:cNvSpPr/>
          <p:nvPr/>
        </p:nvSpPr>
        <p:spPr>
          <a:xfrm>
            <a:off x="886968" y="4460520"/>
            <a:ext cx="685800" cy="685800"/>
          </a:xfrm>
          <a:prstGeom prst="ellipse">
            <a:avLst/>
          </a:prstGeom>
          <a:solidFill>
            <a:schemeClr val="accent1"/>
          </a:solidFill>
          <a:ln/>
        </p:spPr>
      </p:sp>
      <p:pic>
        <p:nvPicPr>
          <p:cNvPr id="6" name="icone-77" descr="FaUserShield">    </p:cNvPr>
          <p:cNvPicPr>
            <a:picLocks noChangeAspect="1"/>
          </p:cNvPicPr>
          <p:nvPr/>
        </p:nvPicPr>
        <p:blipFill>
          <a:blip r:embed="rId1"/>
          <a:stretch>
            <a:fillRect/>
          </a:stretch>
        </p:blipFill>
        <p:spPr>
          <a:xfrm>
            <a:off x="1072134" y="4645686"/>
            <a:ext cx="315468" cy="315468"/>
          </a:xfrm>
          <a:prstGeom prst="rect">
            <a:avLst/>
          </a:prstGeom>
        </p:spPr>
      </p:pic>
      <p:sp>
        <p:nvSpPr>
          <p:cNvPr id="7" name="texte-78"/>
          <p:cNvSpPr txBox="1"/>
          <p:nvPr/>
        </p:nvSpPr>
        <p:spPr>
          <a:xfrm>
            <a:off x="1755648" y="4460520"/>
            <a:ext cx="9509760" cy="457200"/>
          </a:xfrm>
          <a:prstGeom prst="rect">
            <a:avLst/>
          </a:prstGeom>
          <a:noFill/>
          <a:ln/>
        </p:spPr>
        <p:txBody>
          <a:bodyPr wrap="square" lIns="0" tIns="0" rIns="0" bIns="0" rtlCol="0" anchor="t"/>
          <a:lstStyle/>
          <a:p>
            <a:pPr indent="0" marL="0">
              <a:buNone/>
            </a:pPr>
            <a:r>
              <a:rPr lang="en-US" sz="1800" b="1" dirty="0">
                <a:solidFill>
                  <a:schemeClr val="tx1"/>
                </a:solidFill>
              </a:rPr>
              <a:t>Données personnelles</a:t>
            </a:r>
            <a:endParaRPr lang="en-US" sz="1800" dirty="0"/>
          </a:p>
        </p:txBody>
      </p:sp>
      <p:sp>
        <p:nvSpPr>
          <p:cNvPr id="8" name="Text 15"/>
          <p:cNvSpPr txBox="1"/>
          <p:nvPr/>
        </p:nvSpPr>
        <p:spPr>
          <a:xfrm>
            <a:off x="1755648" y="4963440"/>
            <a:ext cx="9509760" cy="1005840"/>
          </a:xfrm>
          <a:prstGeom prst="rect">
            <a:avLst/>
          </a:prstGeom>
          <a:noFill/>
          <a:ln/>
        </p:spPr>
        <p:txBody>
          <a:bodyPr wrap="square" lIns="0" tIns="0" rIns="0" bIns="0" rtlCol="0" anchor="ctr"/>
          <a:lstStyle/>
          <a:p>
            <a:pPr indent="0" marL="0">
              <a:buNone/>
            </a:pPr>
            <a:r>
              <a:rPr lang="en-US" sz="1450" dirty="0">
                <a:solidFill>
                  <a:schemeClr val="tx1"/>
                </a:solidFill>
              </a:rPr>
              <a:t>Données gardées : noms et téléphones des adhérents (facultatifs). Accès : le bibliothécaire sur son poste ; pas encore de connexion par mot de passe (limite). Protection : requêtes préparées contre l’injection SQL, HTML saisi jamais exécuté. Données fictives pour la démonstration.</a:t>
            </a:r>
            <a:endParaRPr lang="en-US" sz="1600" dirty="0"/>
          </a:p>
        </p:txBody>
      </p:sp>
      <p:sp>
        <p:nvSpPr>
          <p:cNvPr id="25" name="Slide Number Placeholder 0"/>
          <p:cNvSpPr>
            <a:spLocks noGrp="1"/>
          </p:cNvSpPr>
          <p:nvPr>
            <p:ph type="sldNum" sz="quarter" idx="4294967295"/>
          </p:nvPr>
        </p:nvSpPr>
        <p:spPr>
          <a:xfrm>
            <a:off x="1110996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12648" y="384048"/>
            <a:ext cx="10972800" cy="777240"/>
          </a:xfrm>
          <a:prstGeom prst="rect">
            <a:avLst/>
          </a:prstGeom>
          <a:noFill/>
          <a:ln/>
        </p:spPr>
        <p:txBody>
          <a:bodyPr wrap="square" lIns="0" tIns="0" rIns="0" bIns="0" rtlCol="0" anchor="ctr"/>
          <a:lstStyle/>
          <a:p>
            <a:pPr algn="l" indent="0" marL="0">
              <a:buNone/>
            </a:pPr>
            <a:r>
              <a:rPr lang="en-US" sz="3400" b="1" dirty="0">
                <a:solidFill>
                  <a:schemeClr val="tx1"/>
                </a:solidFill>
              </a:rPr>
              <a:t>Bilan</a:t>
            </a:r>
            <a:endParaRPr lang="en-US" sz="3400" dirty="0"/>
          </a:p>
        </p:txBody>
      </p:sp>
      <p:sp>
        <p:nvSpPr>
          <p:cNvPr id="3" name="carte-80"/>
          <p:cNvSpPr/>
          <p:nvPr/>
        </p:nvSpPr>
        <p:spPr>
          <a:xfrm>
            <a:off x="612648" y="1417320"/>
            <a:ext cx="3474720" cy="2420000"/>
          </a:xfrm>
          <a:prstGeom prst="roundRect">
            <a:avLst>
              <a:gd name="adj" fmla="val 4000"/>
            </a:avLst>
          </a:prstGeom>
          <a:solidFill>
            <a:schemeClr val="bg1"/>
          </a:solidFill>
          <a:ln w="9525">
            <a:solidFill>
              <a:srgbClr val="E3E6EE"/>
            </a:solidFill>
            <a:prstDash val="solid"/>
          </a:ln>
          <a:effectLst>
            <a:outerShdw sx="100000" sy="100000" kx="0" ky="0" algn="bl" rotWithShape="0" blurRad="101600" dist="25400" dir="5400000">
              <a:srgbClr val="000000">
                <a:alpha val="8000"/>
              </a:srgbClr>
            </a:outerShdw>
          </a:effectLst>
        </p:spPr>
      </p:sp>
      <p:sp>
        <p:nvSpPr>
          <p:cNvPr id="4" name="pastille-81"/>
          <p:cNvSpPr/>
          <p:nvPr/>
        </p:nvSpPr>
        <p:spPr>
          <a:xfrm>
            <a:off x="886968" y="1691640"/>
            <a:ext cx="685800" cy="685800"/>
          </a:xfrm>
          <a:prstGeom prst="ellipse">
            <a:avLst/>
          </a:prstGeom>
          <a:solidFill>
            <a:schemeClr val="accent2"/>
          </a:solidFill>
          <a:ln/>
        </p:spPr>
      </p:sp>
      <p:pic>
        <p:nvPicPr>
          <p:cNvPr id="5" name="icone-82" descr="FaThumbsUp">    </p:cNvPr>
          <p:cNvPicPr>
            <a:picLocks noChangeAspect="1"/>
          </p:cNvPicPr>
          <p:nvPr/>
        </p:nvPicPr>
        <p:blipFill>
          <a:blip r:embed="rId1"/>
          <a:stretch>
            <a:fillRect/>
          </a:stretch>
        </p:blipFill>
        <p:spPr>
          <a:xfrm>
            <a:off x="1072134" y="1876806"/>
            <a:ext cx="315468" cy="315468"/>
          </a:xfrm>
          <a:prstGeom prst="rect">
            <a:avLst/>
          </a:prstGeom>
        </p:spPr>
      </p:pic>
      <p:sp>
        <p:nvSpPr>
          <p:cNvPr id="6" name="texte-83"/>
          <p:cNvSpPr txBox="1"/>
          <p:nvPr/>
        </p:nvSpPr>
        <p:spPr>
          <a:xfrm>
            <a:off x="1755648" y="1691640"/>
            <a:ext cx="2103120" cy="685800"/>
          </a:xfrm>
          <a:prstGeom prst="rect">
            <a:avLst/>
          </a:prstGeom>
          <a:noFill/>
          <a:ln/>
        </p:spPr>
        <p:txBody>
          <a:bodyPr wrap="square" lIns="0" tIns="0" rIns="0" bIns="0" rtlCol="0" anchor="ctr"/>
          <a:lstStyle/>
          <a:p>
            <a:pPr indent="0" marL="0">
              <a:buNone/>
            </a:pPr>
            <a:r>
              <a:rPr lang="en-US" sz="1900" b="1" dirty="0">
                <a:solidFill>
                  <a:schemeClr val="tx1"/>
                </a:solidFill>
              </a:rPr>
              <a:t>Ce qui marche</a:t>
            </a:r>
            <a:endParaRPr lang="en-US" sz="1900" dirty="0"/>
          </a:p>
        </p:txBody>
      </p:sp>
      <p:sp>
        <p:nvSpPr>
          <p:cNvPr id="7" name="Text 15"/>
          <p:cNvSpPr txBox="1"/>
          <p:nvPr/>
        </p:nvSpPr>
        <p:spPr>
          <a:xfrm>
            <a:off x="886968" y="2560320"/>
            <a:ext cx="2926080" cy="1100000"/>
          </a:xfrm>
          <a:prstGeom prst="rect">
            <a:avLst/>
          </a:prstGeom>
          <a:noFill/>
          <a:ln/>
        </p:spPr>
        <p:txBody>
          <a:bodyPr wrap="square" lIns="0" tIns="0" rIns="0" bIns="0" rtlCol="0" anchor="ctr"/>
          <a:lstStyle/>
          <a:p>
            <a:pPr indent="0" marL="0">
              <a:buNone/>
            </a:pPr>
            <a:r>
              <a:rPr lang="en-US" sz="1450" dirty="0">
                <a:solidFill>
                  <a:schemeClr val="tx1"/>
                </a:solidFill>
              </a:rPr>
              <a:t>Livres, adhérents, emprunts, retours et tableau de bord : complets et testés (24 contrôles automatiques).</a:t>
            </a:r>
            <a:endParaRPr lang="en-US" sz="1550" dirty="0"/>
          </a:p>
        </p:txBody>
      </p:sp>
      <p:sp>
        <p:nvSpPr>
          <p:cNvPr id="8" name="carte-85"/>
          <p:cNvSpPr/>
          <p:nvPr/>
        </p:nvSpPr>
        <p:spPr>
          <a:xfrm>
            <a:off x="4361688" y="1417320"/>
            <a:ext cx="3474720" cy="2420000"/>
          </a:xfrm>
          <a:prstGeom prst="roundRect">
            <a:avLst>
              <a:gd name="adj" fmla="val 4000"/>
            </a:avLst>
          </a:prstGeom>
          <a:solidFill>
            <a:schemeClr val="bg1"/>
          </a:solidFill>
          <a:ln w="9525">
            <a:solidFill>
              <a:srgbClr val="E3E6EE"/>
            </a:solidFill>
            <a:prstDash val="solid"/>
          </a:ln>
          <a:effectLst>
            <a:outerShdw sx="100000" sy="100000" kx="0" ky="0" algn="bl" rotWithShape="0" blurRad="101600" dist="25400" dir="5400000">
              <a:srgbClr val="000000">
                <a:alpha val="8000"/>
              </a:srgbClr>
            </a:outerShdw>
          </a:effectLst>
        </p:spPr>
      </p:sp>
      <p:sp>
        <p:nvSpPr>
          <p:cNvPr id="9" name="pastille-86"/>
          <p:cNvSpPr/>
          <p:nvPr/>
        </p:nvSpPr>
        <p:spPr>
          <a:xfrm>
            <a:off x="4636008" y="1691640"/>
            <a:ext cx="685800" cy="685800"/>
          </a:xfrm>
          <a:prstGeom prst="ellipse">
            <a:avLst/>
          </a:prstGeom>
          <a:solidFill>
            <a:schemeClr val="accent3"/>
          </a:solidFill>
          <a:ln/>
        </p:spPr>
      </p:sp>
      <p:pic>
        <p:nvPicPr>
          <p:cNvPr id="10" name="icone-87" descr="FaTools">    </p:cNvPr>
          <p:cNvPicPr>
            <a:picLocks noChangeAspect="1"/>
          </p:cNvPicPr>
          <p:nvPr/>
        </p:nvPicPr>
        <p:blipFill>
          <a:blip r:embed="rId2"/>
          <a:stretch>
            <a:fillRect/>
          </a:stretch>
        </p:blipFill>
        <p:spPr>
          <a:xfrm>
            <a:off x="4821174" y="1876806"/>
            <a:ext cx="315468" cy="315468"/>
          </a:xfrm>
          <a:prstGeom prst="rect">
            <a:avLst/>
          </a:prstGeom>
        </p:spPr>
      </p:pic>
      <p:sp>
        <p:nvSpPr>
          <p:cNvPr id="11" name="texte-88"/>
          <p:cNvSpPr txBox="1"/>
          <p:nvPr/>
        </p:nvSpPr>
        <p:spPr>
          <a:xfrm>
            <a:off x="5504688" y="1691640"/>
            <a:ext cx="2103120" cy="685800"/>
          </a:xfrm>
          <a:prstGeom prst="rect">
            <a:avLst/>
          </a:prstGeom>
          <a:noFill/>
          <a:ln/>
        </p:spPr>
        <p:txBody>
          <a:bodyPr wrap="square" lIns="0" tIns="0" rIns="0" bIns="0" rtlCol="0" anchor="ctr"/>
          <a:lstStyle/>
          <a:p>
            <a:pPr indent="0" marL="0">
              <a:buNone/>
            </a:pPr>
            <a:r>
              <a:rPr lang="en-US" sz="1900" b="1" dirty="0">
                <a:solidFill>
                  <a:schemeClr val="tx1"/>
                </a:solidFill>
              </a:rPr>
              <a:t>Les limites</a:t>
            </a:r>
            <a:endParaRPr lang="en-US" sz="1900" dirty="0"/>
          </a:p>
        </p:txBody>
      </p:sp>
      <p:sp>
        <p:nvSpPr>
          <p:cNvPr id="12" name="Text 15"/>
          <p:cNvSpPr txBox="1"/>
          <p:nvPr/>
        </p:nvSpPr>
        <p:spPr>
          <a:xfrm>
            <a:off x="4636008" y="2560320"/>
            <a:ext cx="2926080" cy="1100000"/>
          </a:xfrm>
          <a:prstGeom prst="rect">
            <a:avLst/>
          </a:prstGeom>
          <a:noFill/>
          <a:ln/>
        </p:spPr>
        <p:txBody>
          <a:bodyPr wrap="square" lIns="0" tIns="0" rIns="0" bIns="0" rtlCol="0" anchor="ctr"/>
          <a:lstStyle/>
          <a:p>
            <a:pPr indent="0" marL="0">
              <a:buNone/>
            </a:pPr>
            <a:r>
              <a:rPr lang="en-US" sz="1450" dirty="0">
                <a:solidFill>
                  <a:schemeClr val="tx1"/>
                </a:solidFill>
              </a:rPr>
              <a:t>Pas de connexion par mot de passe ; pas de date limite de retour ni de pénalités.</a:t>
            </a:r>
            <a:endParaRPr lang="en-US" sz="1550" dirty="0"/>
          </a:p>
        </p:txBody>
      </p:sp>
      <p:sp>
        <p:nvSpPr>
          <p:cNvPr id="13" name="carte-90"/>
          <p:cNvSpPr/>
          <p:nvPr/>
        </p:nvSpPr>
        <p:spPr>
          <a:xfrm>
            <a:off x="8110728" y="1417320"/>
            <a:ext cx="3474720" cy="2420000"/>
          </a:xfrm>
          <a:prstGeom prst="roundRect">
            <a:avLst>
              <a:gd name="adj" fmla="val 4000"/>
            </a:avLst>
          </a:prstGeom>
          <a:solidFill>
            <a:schemeClr val="bg1"/>
          </a:solidFill>
          <a:ln w="9525">
            <a:solidFill>
              <a:srgbClr val="E3E6EE"/>
            </a:solidFill>
            <a:prstDash val="solid"/>
          </a:ln>
          <a:effectLst>
            <a:outerShdw sx="100000" sy="100000" kx="0" ky="0" algn="bl" rotWithShape="0" blurRad="101600" dist="25400" dir="5400000">
              <a:srgbClr val="000000">
                <a:alpha val="8000"/>
              </a:srgbClr>
            </a:outerShdw>
          </a:effectLst>
        </p:spPr>
      </p:sp>
      <p:sp>
        <p:nvSpPr>
          <p:cNvPr id="14" name="pastille-91"/>
          <p:cNvSpPr/>
          <p:nvPr/>
        </p:nvSpPr>
        <p:spPr>
          <a:xfrm>
            <a:off x="8385048" y="1691640"/>
            <a:ext cx="685800" cy="685800"/>
          </a:xfrm>
          <a:prstGeom prst="ellipse">
            <a:avLst/>
          </a:prstGeom>
          <a:solidFill>
            <a:schemeClr val="accent1"/>
          </a:solidFill>
          <a:ln/>
        </p:spPr>
      </p:sp>
      <p:pic>
        <p:nvPicPr>
          <p:cNvPr id="15" name="icone-92" descr="FaSyncAlt">    </p:cNvPr>
          <p:cNvPicPr>
            <a:picLocks noChangeAspect="1"/>
          </p:cNvPicPr>
          <p:nvPr/>
        </p:nvPicPr>
        <p:blipFill>
          <a:blip r:embed="rId3"/>
          <a:stretch>
            <a:fillRect/>
          </a:stretch>
        </p:blipFill>
        <p:spPr>
          <a:xfrm>
            <a:off x="8570214" y="1876806"/>
            <a:ext cx="315468" cy="315468"/>
          </a:xfrm>
          <a:prstGeom prst="rect">
            <a:avLst/>
          </a:prstGeom>
        </p:spPr>
      </p:pic>
      <p:sp>
        <p:nvSpPr>
          <p:cNvPr id="16" name="texte-93"/>
          <p:cNvSpPr txBox="1"/>
          <p:nvPr/>
        </p:nvSpPr>
        <p:spPr>
          <a:xfrm>
            <a:off x="9253728" y="1691640"/>
            <a:ext cx="2103120" cy="685800"/>
          </a:xfrm>
          <a:prstGeom prst="rect">
            <a:avLst/>
          </a:prstGeom>
          <a:noFill/>
          <a:ln/>
        </p:spPr>
        <p:txBody>
          <a:bodyPr wrap="square" lIns="0" tIns="0" rIns="0" bIns="0" rtlCol="0" anchor="ctr"/>
          <a:lstStyle/>
          <a:p>
            <a:pPr indent="0" marL="0">
              <a:buNone/>
            </a:pPr>
            <a:r>
              <a:rPr lang="en-US" sz="1900" b="1" dirty="0">
                <a:solidFill>
                  <a:schemeClr val="tx1"/>
                </a:solidFill>
              </a:rPr>
              <a:t>Si c’était à refaire</a:t>
            </a:r>
            <a:endParaRPr lang="en-US" sz="1900" dirty="0"/>
          </a:p>
        </p:txBody>
      </p:sp>
      <p:sp>
        <p:nvSpPr>
          <p:cNvPr id="17" name="Text 15"/>
          <p:cNvSpPr txBox="1"/>
          <p:nvPr/>
        </p:nvSpPr>
        <p:spPr>
          <a:xfrm>
            <a:off x="8385048" y="2560320"/>
            <a:ext cx="2926080" cy="1100000"/>
          </a:xfrm>
          <a:prstGeom prst="rect">
            <a:avLst/>
          </a:prstGeom>
          <a:noFill/>
          <a:ln/>
        </p:spPr>
        <p:txBody>
          <a:bodyPr wrap="square" lIns="0" tIns="0" rIns="0" bIns="0" rtlCol="0" anchor="ctr"/>
          <a:lstStyle/>
          <a:p>
            <a:pPr indent="0" marL="0">
              <a:buNone/>
            </a:pPr>
            <a:r>
              <a:rPr lang="en-US" sz="1450" dirty="0">
                <a:solidFill>
                  <a:schemeClr val="tx1"/>
                </a:solidFill>
              </a:rPr>
              <a:t>Dessiner le MCD avant le code, ajouter l’authentification, vérifier chaque proposition de l’IA par un test.</a:t>
            </a:r>
            <a:endParaRPr lang="en-US" sz="1550" dirty="0"/>
          </a:p>
        </p:txBody>
      </p:sp>
      <p:graphicFrame>
        <p:nvGraphicFramePr>
          <p:cNvPr id="10" name="tableau-95"/>
          <p:cNvGraphicFramePr>
            <a:graphicFrameLocks noGrp="1"/>
          </p:cNvGraphicFramePr>
          <p:nvPr>
            <p:extLst>
              <p:ext uri="{D42A27DB-BD31-4B8C-83A1-F6EECF244321}">
                <p14:modId xmlns:p14="http://schemas.microsoft.com/office/powerpoint/2010/main" val="1579011935"/>
              </p:ext>
            </p:extLst>
          </p:nvPr>
        </p:nvGraphicFramePr>
        <p:xfrm>
          <a:off x="612648" y="4050000"/>
          <a:ext cx="10972800" cy="2040000"/>
        </p:xfrm>
        <a:graphic>
          <a:graphicData uri="http://schemas.openxmlformats.org/drawingml/2006/table">
            <a:tbl>
              <a:tblPr/>
              <a:tblGrid>
                <a:gridCol w="2560320"/>
                <a:gridCol w="4206240"/>
                <a:gridCol w="4206240"/>
              </a:tblGrid>
              <a:tr h="340000">
                <a:tc>
                  <a:txBody>
                    <a:bodyPr/>
                    <a:lstStyle/>
                    <a:p>
                      <a:pPr algn="l" indent="0" marL="0">
                        <a:buNone/>
                      </a:pPr>
                      <a:r>
                        <a:rPr lang="en-US" sz="1500" b="1" dirty="0">
                          <a:solidFill>
                            <a:schemeClr val="bg1"/>
                          </a:solidFill>
                        </a:rPr>
                        <a:t>Membre</a:t>
                      </a:r>
                      <a:endParaRPr lang="en-US" sz="15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rPr>
                        <a:t>A réalisé</a:t>
                      </a:r>
                      <a:endParaRPr lang="en-US" sz="15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rPr>
                        <a:t>Peut expliquer</a:t>
                      </a:r>
                      <a:endParaRPr lang="en-US" sz="15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tx1"/>
                    </a:solidFill>
                  </a:tcPr>
                </a:tc>
              </a:tr>
              <a:tr h="340000">
                <a:tc>
                  <a:txBody>
                    <a:bodyPr/>
                    <a:lstStyle/>
                    <a:p>
                      <a:pPr indent="0" marL="0">
                        <a:buNone/>
                      </a:pPr>
                      <a:r>
                        <a:rPr lang="en-US" sz="1300" dirty="0">
                          <a:solidFill>
                            <a:schemeClr val="tx1"/>
                          </a:solidFill>
                        </a:rPr>
                        <a:t>Mama dit Kama TRAORÉ</a:t>
                      </a:r>
                      <a:endParaRPr lang="en-US" sz="15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Coordination, base de données, API Spring Boot</a:t>
                      </a:r>
                      <a:endParaRPr lang="en-US" sz="15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La base, les entités, les routes de l’API</a:t>
                      </a:r>
                      <a:endParaRPr lang="en-US" sz="15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2"/>
                    </a:solidFill>
                  </a:tcPr>
                </a:tc>
              </a:tr>
              <a:tr h="340000">
                <a:tc>
                  <a:txBody>
                    <a:bodyPr/>
                    <a:lstStyle/>
                    <a:p>
                      <a:pPr indent="0" marL="0">
                        <a:buNone/>
                      </a:pPr>
                      <a:r>
                        <a:rPr lang="en-US" sz="1300" dirty="0">
                          <a:solidFill>
                            <a:schemeClr val="tx1"/>
                          </a:solidFill>
                        </a:rPr>
                        <a:t>Mouhamoud DIARRA</a:t>
                      </a:r>
                      <a:endParaRPr lang="en-US" sz="15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Interface web et tableau de bord</a:t>
                      </a:r>
                      <a:endParaRPr lang="en-US" sz="15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Les pages, les formulaires, le tableau de bord</a:t>
                      </a:r>
                      <a:endParaRPr lang="en-US" sz="15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r>
              <a:tr h="340000">
                <a:tc>
                  <a:txBody>
                    <a:bodyPr/>
                    <a:lstStyle/>
                    <a:p>
                      <a:pPr indent="0" marL="0">
                        <a:buNone/>
                      </a:pPr>
                      <a:r>
                        <a:rPr lang="en-US" sz="1300" dirty="0">
                          <a:solidFill>
                            <a:schemeClr val="tx1"/>
                          </a:solidFill>
                        </a:rPr>
                        <a:t>Leila TOURÉ</a:t>
                      </a:r>
                      <a:endParaRPr lang="en-US" sz="15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Version console et JDBC</a:t>
                      </a:r>
                      <a:endParaRPr lang="en-US" sz="15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Les services et les requêtes préparées</a:t>
                      </a:r>
                      <a:endParaRPr lang="en-US" sz="15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r>
              <a:tr h="340000">
                <a:tc>
                  <a:txBody>
                    <a:bodyPr/>
                    <a:lstStyle/>
                    <a:p>
                      <a:pPr indent="0" marL="0">
                        <a:buNone/>
                      </a:pPr>
                      <a:r>
                        <a:rPr lang="en-US" sz="1300" dirty="0">
                          <a:solidFill>
                            <a:schemeClr val="tx1"/>
                          </a:solidFill>
                        </a:rPr>
                        <a:t>Kalilou KONATÉ</a:t>
                      </a:r>
                      <a:endParaRPr lang="en-US" sz="15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Tests et sécurité</a:t>
                      </a:r>
                      <a:endParaRPr lang="en-US" sz="15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Les 24 tests, les règles de gestion</a:t>
                      </a:r>
                      <a:endParaRPr lang="en-US" sz="15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r>
              <a:tr h="340000">
                <a:tc>
                  <a:txBody>
                    <a:bodyPr/>
                    <a:lstStyle/>
                    <a:p>
                      <a:pPr indent="0" marL="0">
                        <a:buNone/>
                      </a:pPr>
                      <a:r>
                        <a:rPr lang="en-US" sz="1300" dirty="0">
                          <a:solidFill>
                            <a:schemeClr val="tx1"/>
                          </a:solidFill>
                        </a:rPr>
                        <a:t>COULIBALY</a:t>
                      </a:r>
                      <a:endParaRPr lang="en-US" sz="15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MCD, documentation et captures</a:t>
                      </a:r>
                      <a:endParaRPr lang="en-US" sz="15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Le MCD, le README, le lancement</a:t>
                      </a:r>
                      <a:endParaRPr lang="en-US" sz="1500" dirty="0"/>
                    </a:p>
                  </a:txBody>
                  <a:tcPr marL="109728" marR="109728" marT="45720" marB="45720"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0996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12648" y="384048"/>
            <a:ext cx="10972800" cy="777240"/>
          </a:xfrm>
          <a:prstGeom prst="rect">
            <a:avLst/>
          </a:prstGeom>
          <a:noFill/>
          <a:ln/>
        </p:spPr>
        <p:txBody>
          <a:bodyPr wrap="square" lIns="0" tIns="0" rIns="0" bIns="0" rtlCol="0" anchor="ctr"/>
          <a:lstStyle/>
          <a:p>
            <a:pPr algn="l" indent="0" marL="0">
              <a:buNone/>
            </a:pPr>
            <a:r>
              <a:rPr lang="en-US" sz="3400" b="1" dirty="0">
                <a:solidFill>
                  <a:schemeClr val="bg1"/>
                </a:solidFill>
              </a:rPr>
              <a:t>Merci — vos questions</a:t>
            </a:r>
            <a:endParaRPr lang="en-US" sz="3400" dirty="0"/>
          </a:p>
        </p:txBody>
      </p:sp>
      <p:sp>
        <p:nvSpPr>
          <p:cNvPr id="3" name="pastille-96"/>
          <p:cNvSpPr/>
          <p:nvPr/>
        </p:nvSpPr>
        <p:spPr>
          <a:xfrm>
            <a:off x="612648" y="1645920"/>
            <a:ext cx="777240" cy="777240"/>
          </a:xfrm>
          <a:prstGeom prst="ellipse">
            <a:avLst/>
          </a:prstGeom>
          <a:solidFill>
            <a:schemeClr val="accent2"/>
          </a:solidFill>
          <a:ln/>
        </p:spPr>
      </p:sp>
      <p:pic>
        <p:nvPicPr>
          <p:cNvPr id="4" name="icone-97" descr="FaGithub">    </p:cNvPr>
          <p:cNvPicPr>
            <a:picLocks noChangeAspect="1"/>
          </p:cNvPicPr>
          <p:nvPr/>
        </p:nvPicPr>
        <p:blipFill>
          <a:blip r:embed="rId1"/>
          <a:stretch>
            <a:fillRect/>
          </a:stretch>
        </p:blipFill>
        <p:spPr>
          <a:xfrm>
            <a:off x="822503" y="1855775"/>
            <a:ext cx="357530" cy="357530"/>
          </a:xfrm>
          <a:prstGeom prst="rect">
            <a:avLst/>
          </a:prstGeom>
        </p:spPr>
      </p:pic>
      <p:sp>
        <p:nvSpPr>
          <p:cNvPr id="5" name="texte-98"/>
          <p:cNvSpPr txBox="1"/>
          <p:nvPr/>
        </p:nvSpPr>
        <p:spPr>
          <a:xfrm>
            <a:off x="1664208" y="1645920"/>
            <a:ext cx="9601200" cy="777240"/>
          </a:xfrm>
          <a:prstGeom prst="rect">
            <a:avLst/>
          </a:prstGeom>
          <a:noFill/>
          <a:ln/>
        </p:spPr>
        <p:txBody>
          <a:bodyPr wrap="square" lIns="0" tIns="0" rIns="0" bIns="0" rtlCol="0" anchor="ctr"/>
          <a:lstStyle/>
          <a:p>
            <a:pPr indent="0" marL="0">
              <a:buNone/>
            </a:pPr>
            <a:r>
              <a:rPr lang="en-US" sz="2000" dirty="0">
                <a:solidFill>
                  <a:schemeClr val="bg1"/>
                </a:solidFill>
              </a:rPr>
              <a:t>Code : dossier bibliotheque-final.zip (api-spring, console-jdbc, database, tests)</a:t>
            </a:r>
            <a:endParaRPr lang="en-US" sz="2000" dirty="0"/>
          </a:p>
        </p:txBody>
      </p:sp>
      <p:sp>
        <p:nvSpPr>
          <p:cNvPr id="6" name="pastille-99"/>
          <p:cNvSpPr/>
          <p:nvPr/>
        </p:nvSpPr>
        <p:spPr>
          <a:xfrm>
            <a:off x="612648" y="2834640"/>
            <a:ext cx="777240" cy="777240"/>
          </a:xfrm>
          <a:prstGeom prst="ellipse">
            <a:avLst/>
          </a:prstGeom>
          <a:solidFill>
            <a:schemeClr val="accent3"/>
          </a:solidFill>
          <a:ln/>
        </p:spPr>
      </p:sp>
      <p:pic>
        <p:nvPicPr>
          <p:cNvPr id="7" name="icone-100" descr="FaFileAlt">    </p:cNvPr>
          <p:cNvPicPr>
            <a:picLocks noChangeAspect="1"/>
          </p:cNvPicPr>
          <p:nvPr/>
        </p:nvPicPr>
        <p:blipFill>
          <a:blip r:embed="rId2"/>
          <a:stretch>
            <a:fillRect/>
          </a:stretch>
        </p:blipFill>
        <p:spPr>
          <a:xfrm>
            <a:off x="822503" y="3044495"/>
            <a:ext cx="357530" cy="357530"/>
          </a:xfrm>
          <a:prstGeom prst="rect">
            <a:avLst/>
          </a:prstGeom>
        </p:spPr>
      </p:pic>
      <p:sp>
        <p:nvSpPr>
          <p:cNvPr id="8" name="texte-101"/>
          <p:cNvSpPr txBox="1"/>
          <p:nvPr/>
        </p:nvSpPr>
        <p:spPr>
          <a:xfrm>
            <a:off x="1664208" y="2834640"/>
            <a:ext cx="9601200" cy="777240"/>
          </a:xfrm>
          <a:prstGeom prst="rect">
            <a:avLst/>
          </a:prstGeom>
          <a:noFill/>
          <a:ln/>
        </p:spPr>
        <p:txBody>
          <a:bodyPr wrap="square" lIns="0" tIns="0" rIns="0" bIns="0" rtlCol="0" anchor="ctr"/>
          <a:lstStyle/>
          <a:p>
            <a:pPr indent="0" marL="0">
              <a:buNone/>
            </a:pPr>
            <a:r>
              <a:rPr lang="en-US" sz="2000" dirty="0">
                <a:solidFill>
                  <a:schemeClr val="bg1"/>
                </a:solidFill>
              </a:rPr>
              <a:t>README (installation Windows et Termux) : dans le dossier du projet</a:t>
            </a:r>
            <a:endParaRPr lang="en-US" sz="2000" dirty="0"/>
          </a:p>
        </p:txBody>
      </p:sp>
      <p:sp>
        <p:nvSpPr>
          <p:cNvPr id="9" name="pastille-102"/>
          <p:cNvSpPr/>
          <p:nvPr/>
        </p:nvSpPr>
        <p:spPr>
          <a:xfrm>
            <a:off x="612648" y="4023360"/>
            <a:ext cx="777240" cy="777240"/>
          </a:xfrm>
          <a:prstGeom prst="ellipse">
            <a:avLst/>
          </a:prstGeom>
          <a:solidFill>
            <a:schemeClr val="accent1"/>
          </a:solidFill>
          <a:ln/>
        </p:spPr>
      </p:sp>
      <p:pic>
        <p:nvPicPr>
          <p:cNvPr id="10" name="icone-103" descr="FaUsers">    </p:cNvPr>
          <p:cNvPicPr>
            <a:picLocks noChangeAspect="1"/>
          </p:cNvPicPr>
          <p:nvPr/>
        </p:nvPicPr>
        <p:blipFill>
          <a:blip r:embed="rId3"/>
          <a:stretch>
            <a:fillRect/>
          </a:stretch>
        </p:blipFill>
        <p:spPr>
          <a:xfrm>
            <a:off x="822503" y="4233215"/>
            <a:ext cx="357530" cy="357530"/>
          </a:xfrm>
          <a:prstGeom prst="rect">
            <a:avLst/>
          </a:prstGeom>
        </p:spPr>
      </p:pic>
      <p:sp>
        <p:nvSpPr>
          <p:cNvPr id="11" name="texte-104"/>
          <p:cNvSpPr txBox="1"/>
          <p:nvPr/>
        </p:nvSpPr>
        <p:spPr>
          <a:xfrm>
            <a:off x="1664208" y="4023360"/>
            <a:ext cx="9601200" cy="777240"/>
          </a:xfrm>
          <a:prstGeom prst="rect">
            <a:avLst/>
          </a:prstGeom>
          <a:noFill/>
          <a:ln/>
        </p:spPr>
        <p:txBody>
          <a:bodyPr wrap="square" lIns="0" tIns="0" rIns="0" bIns="0" rtlCol="0" anchor="ctr"/>
          <a:lstStyle/>
          <a:p>
            <a:pPr indent="0" marL="0">
              <a:buNone/>
            </a:pPr>
            <a:r>
              <a:rPr lang="en-US" sz="1800" dirty="0">
                <a:solidFill>
                  <a:schemeClr val="bg1"/>
                </a:solidFill>
              </a:rPr>
              <a:t>Mama dit Kama TRAORÉ · Mouhamoud DIARRA · Leila TOURÉ · Kalilou KONATÉ · COULIBALY</a:t>
            </a:r>
            <a:endParaRPr lang="en-US" sz="2000" dirty="0"/>
          </a:p>
        </p:txBody>
      </p:sp>
      <p:sp>
        <p:nvSpPr>
          <p:cNvPr id="25" name="Slide Number Placeholder 0"/>
          <p:cNvSpPr>
            <a:spLocks noGrp="1"/>
          </p:cNvSpPr>
          <p:nvPr>
            <p:ph type="sldNum" sz="quarter" idx="4294967295"/>
          </p:nvPr>
        </p:nvSpPr>
        <p:spPr>
          <a:xfrm>
            <a:off x="1110996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12648" y="384048"/>
            <a:ext cx="10972800" cy="777240"/>
          </a:xfrm>
          <a:prstGeom prst="rect">
            <a:avLst/>
          </a:prstGeom>
          <a:noFill/>
          <a:ln/>
        </p:spPr>
        <p:txBody>
          <a:bodyPr wrap="square" lIns="0" tIns="0" rIns="0" bIns="0" rtlCol="0" anchor="ctr"/>
          <a:lstStyle/>
          <a:p>
            <a:pPr algn="l" indent="0" marL="0">
              <a:buNone/>
            </a:pPr>
            <a:r>
              <a:rPr lang="en-US" sz="3400" b="1" dirty="0">
                <a:solidFill>
                  <a:schemeClr val="tx1"/>
                </a:solidFill>
              </a:rPr>
              <a:t>Annexe — Plan B : captures de la démonstration</a:t>
            </a:r>
            <a:endParaRPr lang="en-US" sz="3400" dirty="0"/>
          </a:p>
        </p:txBody>
      </p:sp>
      <p:sp>
        <p:nvSpPr>
          <p:cNvPr id="3" name="zone-image-105"/>
          <p:cNvSpPr/>
          <p:nvPr/>
        </p:nvSpPr>
        <p:spPr>
          <a:xfrm>
            <a:off x="612648" y="1371600"/>
            <a:ext cx="5349240" cy="2103120"/>
          </a:xfrm>
          <a:prstGeom prst="roundRect">
            <a:avLst>
              <a:gd name="adj" fmla="val 4348"/>
            </a:avLst>
          </a:prstGeom>
          <a:solidFill>
            <a:schemeClr val="bg2"/>
          </a:solidFill>
          <a:ln w="15875">
            <a:solidFill>
              <a:schemeClr val="accent5"/>
            </a:solidFill>
            <a:prstDash val="dash"/>
          </a:ln>
        </p:spPr>
      </p:sp>
      <p:sp>
        <p:nvSpPr>
          <p:cNvPr id="4" name="Text 15"/>
          <p:cNvSpPr txBox="1"/>
          <p:nvPr/>
        </p:nvSpPr>
        <p:spPr>
          <a:xfrm>
            <a:off x="612648" y="3251600"/>
            <a:ext cx="5349240" cy="190000"/>
          </a:xfrm>
          <a:prstGeom prst="rect">
            <a:avLst/>
          </a:prstGeom>
          <a:noFill/>
          <a:ln/>
        </p:spPr>
        <p:txBody>
          <a:bodyPr wrap="square" lIns="0" tIns="0" rIns="0" bIns="0" rtlCol="0" anchor="t"/>
          <a:lstStyle/>
          <a:p>
            <a:pPr algn="ctr" indent="0" marL="0">
              <a:buNone/>
            </a:pPr>
            <a:r>
              <a:rPr lang="en-US" sz="1100" dirty="0">
                <a:solidFill>
                  <a:schemeClr val="tx1"/>
                </a:solidFill>
              </a:rPr>
              <a:t>Étape 1 : ajouter un livre</a:t>
            </a:r>
            <a:endParaRPr lang="en-US" sz="1600" dirty="0"/>
          </a:p>
        </p:txBody>
      </p:sp>
      <p:sp>
        <p:nvSpPr>
          <p:cNvPr id="5" name="zone-image-107"/>
          <p:cNvSpPr/>
          <p:nvPr/>
        </p:nvSpPr>
        <p:spPr>
          <a:xfrm>
            <a:off x="6236208" y="1371600"/>
            <a:ext cx="5349240" cy="2103120"/>
          </a:xfrm>
          <a:prstGeom prst="roundRect">
            <a:avLst>
              <a:gd name="adj" fmla="val 4348"/>
            </a:avLst>
          </a:prstGeom>
          <a:solidFill>
            <a:schemeClr val="bg2"/>
          </a:solidFill>
          <a:ln w="15875">
            <a:solidFill>
              <a:schemeClr val="accent5"/>
            </a:solidFill>
            <a:prstDash val="dash"/>
          </a:ln>
        </p:spPr>
      </p:sp>
      <p:sp>
        <p:nvSpPr>
          <p:cNvPr id="6" name="Text 15"/>
          <p:cNvSpPr txBox="1"/>
          <p:nvPr/>
        </p:nvSpPr>
        <p:spPr>
          <a:xfrm>
            <a:off x="6236208" y="3251600"/>
            <a:ext cx="5349240" cy="190000"/>
          </a:xfrm>
          <a:prstGeom prst="rect">
            <a:avLst/>
          </a:prstGeom>
          <a:noFill/>
          <a:ln/>
        </p:spPr>
        <p:txBody>
          <a:bodyPr wrap="square" lIns="0" tIns="0" rIns="0" bIns="0" rtlCol="0" anchor="t"/>
          <a:lstStyle/>
          <a:p>
            <a:pPr algn="ctr" indent="0" marL="0">
              <a:buNone/>
            </a:pPr>
            <a:r>
              <a:rPr lang="en-US" sz="1100" dirty="0">
                <a:solidFill>
                  <a:schemeClr val="tx1"/>
                </a:solidFill>
              </a:rPr>
              <a:t>Étape 2 : enregistrer un emprunt</a:t>
            </a:r>
            <a:endParaRPr lang="en-US" sz="1600" dirty="0"/>
          </a:p>
        </p:txBody>
      </p:sp>
      <p:sp>
        <p:nvSpPr>
          <p:cNvPr id="7" name="zone-image-109"/>
          <p:cNvSpPr/>
          <p:nvPr/>
        </p:nvSpPr>
        <p:spPr>
          <a:xfrm>
            <a:off x="612648" y="3657600"/>
            <a:ext cx="5349240" cy="2103120"/>
          </a:xfrm>
          <a:prstGeom prst="roundRect">
            <a:avLst>
              <a:gd name="adj" fmla="val 4348"/>
            </a:avLst>
          </a:prstGeom>
          <a:solidFill>
            <a:schemeClr val="bg2"/>
          </a:solidFill>
          <a:ln w="15875">
            <a:solidFill>
              <a:schemeClr val="accent5"/>
            </a:solidFill>
            <a:prstDash val="dash"/>
          </a:ln>
        </p:spPr>
      </p:sp>
      <p:sp>
        <p:nvSpPr>
          <p:cNvPr id="8" name="Text 15"/>
          <p:cNvSpPr txBox="1"/>
          <p:nvPr/>
        </p:nvSpPr>
        <p:spPr>
          <a:xfrm>
            <a:off x="612648" y="5537600"/>
            <a:ext cx="5349240" cy="190000"/>
          </a:xfrm>
          <a:prstGeom prst="rect">
            <a:avLst/>
          </a:prstGeom>
          <a:noFill/>
          <a:ln/>
        </p:spPr>
        <p:txBody>
          <a:bodyPr wrap="square" lIns="0" tIns="0" rIns="0" bIns="0" rtlCol="0" anchor="t"/>
          <a:lstStyle/>
          <a:p>
            <a:pPr algn="ctr" indent="0" marL="0">
              <a:buNone/>
            </a:pPr>
            <a:r>
              <a:rPr lang="en-US" sz="1100" dirty="0">
                <a:solidFill>
                  <a:schemeClr val="tx1"/>
                </a:solidFill>
              </a:rPr>
              <a:t>Étape 3 : suppression refusée</a:t>
            </a:r>
            <a:endParaRPr lang="en-US" sz="1600" dirty="0"/>
          </a:p>
        </p:txBody>
      </p:sp>
      <p:sp>
        <p:nvSpPr>
          <p:cNvPr id="9" name="zone-image-111"/>
          <p:cNvSpPr/>
          <p:nvPr/>
        </p:nvSpPr>
        <p:spPr>
          <a:xfrm>
            <a:off x="6236208" y="3657600"/>
            <a:ext cx="5349240" cy="2103120"/>
          </a:xfrm>
          <a:prstGeom prst="roundRect">
            <a:avLst>
              <a:gd name="adj" fmla="val 4348"/>
            </a:avLst>
          </a:prstGeom>
          <a:solidFill>
            <a:schemeClr val="bg2"/>
          </a:solidFill>
          <a:ln w="15875">
            <a:solidFill>
              <a:schemeClr val="accent5"/>
            </a:solidFill>
            <a:prstDash val="dash"/>
          </a:ln>
        </p:spPr>
      </p:sp>
      <p:sp>
        <p:nvSpPr>
          <p:cNvPr id="10" name="Text 15"/>
          <p:cNvSpPr txBox="1"/>
          <p:nvPr/>
        </p:nvSpPr>
        <p:spPr>
          <a:xfrm>
            <a:off x="6236208" y="5537600"/>
            <a:ext cx="5349240" cy="190000"/>
          </a:xfrm>
          <a:prstGeom prst="rect">
            <a:avLst/>
          </a:prstGeom>
          <a:noFill/>
          <a:ln/>
        </p:spPr>
        <p:txBody>
          <a:bodyPr wrap="square" lIns="0" tIns="0" rIns="0" bIns="0" rtlCol="0" anchor="t"/>
          <a:lstStyle/>
          <a:p>
            <a:pPr algn="ctr" indent="0" marL="0">
              <a:buNone/>
            </a:pPr>
            <a:r>
              <a:rPr lang="en-US" sz="1100" dirty="0">
                <a:solidFill>
                  <a:schemeClr val="tx1"/>
                </a:solidFill>
              </a:rPr>
              <a:t>Étape 4 : tableau de bord après le retour</a:t>
            </a:r>
            <a:endParaRPr lang="en-US" sz="1600" dirty="0"/>
          </a:p>
        </p:txBody>
      </p:sp>
      <p:sp>
        <p:nvSpPr>
          <p:cNvPr id="25" name="Slide Number Placeholder 0"/>
          <p:cNvSpPr>
            <a:spLocks noGrp="1"/>
          </p:cNvSpPr>
          <p:nvPr>
            <p:ph type="sldNum" sz="quarter" idx="4294967295"/>
          </p:nvPr>
        </p:nvSpPr>
        <p:spPr>
          <a:xfrm>
            <a:off x="1110996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pic>
        <p:nvPicPr>
          <p:cNvPr id="26" name="capture-1" descr="Étape 1 : ajouter un livre"/>
          <p:cNvPicPr>
            <a:picLocks noChangeAspect="1"/>
          </p:cNvPicPr>
          <p:nvPr/>
        </p:nvPicPr>
        <p:blipFill>
          <a:blip r:embed="rId3"/>
          <a:stretch>
            <a:fillRect/>
          </a:stretch>
        </p:blipFill>
        <p:spPr>
          <a:xfrm>
            <a:off x="1358697" y="1431600"/>
            <a:ext cx="3857142" cy="1800000"/>
          </a:xfrm>
          <a:prstGeom prst="rect">
            <a:avLst/>
          </a:prstGeom>
          <a:ln w="9525">
            <a:solidFill>
              <a:srgbClr val="E3E6EE"/>
            </a:solidFill>
          </a:ln>
        </p:spPr>
      </p:pic>
      <p:pic>
        <p:nvPicPr>
          <p:cNvPr id="27" name="capture-2" descr="Étape 2 : enregistrer un emprunt"/>
          <p:cNvPicPr>
            <a:picLocks noChangeAspect="1"/>
          </p:cNvPicPr>
          <p:nvPr/>
        </p:nvPicPr>
        <p:blipFill>
          <a:blip r:embed="rId4"/>
          <a:stretch>
            <a:fillRect/>
          </a:stretch>
        </p:blipFill>
        <p:spPr>
          <a:xfrm>
            <a:off x="6982257" y="1431600"/>
            <a:ext cx="3857142" cy="1800000"/>
          </a:xfrm>
          <a:prstGeom prst="rect">
            <a:avLst/>
          </a:prstGeom>
          <a:ln w="9525">
            <a:solidFill>
              <a:srgbClr val="E3E6EE"/>
            </a:solidFill>
          </a:ln>
        </p:spPr>
      </p:pic>
      <p:pic>
        <p:nvPicPr>
          <p:cNvPr id="28" name="capture-3" descr="Étape 3 : suppression refusée"/>
          <p:cNvPicPr>
            <a:picLocks noChangeAspect="1"/>
          </p:cNvPicPr>
          <p:nvPr/>
        </p:nvPicPr>
        <p:blipFill>
          <a:blip r:embed="rId5"/>
          <a:stretch>
            <a:fillRect/>
          </a:stretch>
        </p:blipFill>
        <p:spPr>
          <a:xfrm>
            <a:off x="1358697" y="3717600"/>
            <a:ext cx="3857142" cy="1800000"/>
          </a:xfrm>
          <a:prstGeom prst="rect">
            <a:avLst/>
          </a:prstGeom>
          <a:ln w="9525">
            <a:solidFill>
              <a:srgbClr val="E3E6EE"/>
            </a:solidFill>
          </a:ln>
        </p:spPr>
      </p:pic>
      <p:pic>
        <p:nvPicPr>
          <p:cNvPr id="29" name="capture-4" descr="Étape 4 : tableau de bord après le retour"/>
          <p:cNvPicPr>
            <a:picLocks noChangeAspect="1"/>
          </p:cNvPicPr>
          <p:nvPr/>
        </p:nvPicPr>
        <p:blipFill>
          <a:blip r:embed="rId6"/>
          <a:stretch>
            <a:fillRect/>
          </a:stretch>
        </p:blipFill>
        <p:spPr>
          <a:xfrm>
            <a:off x="6982257" y="3717600"/>
            <a:ext cx="3857142" cy="1800000"/>
          </a:xfrm>
          <a:prstGeom prst="rect">
            <a:avLst/>
          </a:prstGeom>
          <a:ln w="9525">
            <a:solidFill>
              <a:srgbClr val="E3E6EE"/>
            </a:solidFill>
          </a:ln>
        </p:spPr>
      </p:pic>
    </p:spTree>
  </p:cSld>
  <p:clrMapOvr>
    <a:masterClrMapping/>
  </p:clrMapOvr>
</p:sld>
</file>

<file path=ppt/theme/theme1.xml><?xml version="1.0" encoding="utf-8"?>
<a:theme xmlns:a="http://schemas.openxmlformats.org/drawingml/2006/main" name="IA et Codage informatique">
  <a:themeElements>
    <a:clrScheme name="IA et Codage informatique">
      <a:dk1>
        <a:srgbClr val="1B1F3B"/>
      </a:dk1>
      <a:lt1>
        <a:srgbClr val="FFFFFF"/>
      </a:lt1>
      <a:dk2>
        <a:srgbClr val="264653"/>
      </a:dk2>
      <a:lt2>
        <a:srgbClr val="F1F3F7"/>
      </a:lt2>
      <a:accent1>
        <a:srgbClr val="E76F51"/>
      </a:accent1>
      <a:accent2>
        <a:srgbClr val="2A9D8F"/>
      </a:accent2>
      <a:accent3>
        <a:srgbClr val="E9C46A"/>
      </a:accent3>
      <a:accent4>
        <a:srgbClr val="F4A261"/>
      </a:accent4>
      <a:accent5>
        <a:srgbClr val="8D99AE"/>
      </a:accent5>
      <a:accent6>
        <a:srgbClr val="4A5068"/>
      </a:accent6>
      <a:hlink>
        <a:srgbClr val="2A9D8F"/>
      </a:hlink>
      <a:folHlink>
        <a:srgbClr val="264653"/>
      </a:folHlink>
    </a:clrScheme>
    <a:fontScheme name="IA et Codage informatiqu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du projet — modèle</dc:title>
  <dc:subject>IA et Codage informatique — Informatique de gestion L2</dc:subject>
  <dc:creator>Alou DEMBELE</dc:creator>
  <cp:lastModifiedBy>Alou DEMBELE</cp:lastModifiedBy>
  <cp:revision>1</cp:revision>
  <dcterms:created xsi:type="dcterms:W3CDTF">2026-10-23T07:58:15Z</dcterms:created>
  <dcterms:modified xsi:type="dcterms:W3CDTF">2026-10-23T07:58:15Z</dcterms:modified>
</cp:coreProperties>
</file>